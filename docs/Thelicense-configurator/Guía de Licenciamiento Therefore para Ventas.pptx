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8" r:id="rId10"/>
    <p:sldId id="261" r:id="rId11"/>
    <p:sldId id="267" r:id="rId12"/>
    <p:sldId id="262" r:id="rId13"/>
    <p:sldId id="263" r:id="rId14"/>
    <p:sldId id="264" r:id="rId15"/>
    <p:sldId id="269" r:id="rId16"/>
    <p:sldId id="265" r:id="rId17"/>
    <p:sldId id="266" r:id="rId18"/>
  </p:sldIdLst>
  <p:sldSz cx="12192000" cy="6858000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Montserrat" pitchFamily="2" charset="0"/>
      <p:regular r:id="rId28"/>
      <p:bold r:id="rId29"/>
      <p:italic r:id="rId30"/>
      <p:boldItalic r:id="rId31"/>
    </p:embeddedFont>
    <p:embeddedFont>
      <p:font typeface="Montserrat Medium" panose="00000600000000000000" pitchFamily="2" charset="0"/>
      <p:regular r:id="rId32"/>
      <p:italic r:id="rId33"/>
    </p:embeddedFont>
    <p:embeddedFont>
      <p:font typeface="Plus Jakarta Sans" panose="020B0604020202020204" charset="0"/>
      <p:regular r:id="rId34"/>
      <p:bold r:id="rId35"/>
      <p:italic r:id="rId36"/>
      <p:boldItalic r:id="rId37"/>
    </p:embeddedFont>
    <p:embeddedFont>
      <p:font typeface="Plus Jakarta Sans ExtraBold" panose="020B0604020202020204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F47B6E-0130-4E15-AD81-BB2294A32211}">
  <a:tblStyle styleId="{E7F47B6E-0130-4E15-AD81-BB2294A322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742" autoAdjust="0"/>
  </p:normalViewPr>
  <p:slideViewPr>
    <p:cSldViewPr snapToGrid="0">
      <p:cViewPr varScale="1">
        <p:scale>
          <a:sx n="112" d="100"/>
          <a:sy n="112" d="100"/>
        </p:scale>
        <p:origin x="21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Marquez Martinez-Feduchi" userId="9dfa6c2a-fe4c-47a3-827d-317ef510a436" providerId="ADAL" clId="{6F89CAD9-CB6B-4693-A4B5-F17EA3009FEA}"/>
    <pc:docChg chg="custSel addSld modSld">
      <pc:chgData name="Manuel Marquez Martinez-Feduchi" userId="9dfa6c2a-fe4c-47a3-827d-317ef510a436" providerId="ADAL" clId="{6F89CAD9-CB6B-4693-A4B5-F17EA3009FEA}" dt="2026-10-21T06:23:45.814" v="497" actId="207"/>
      <pc:docMkLst>
        <pc:docMk/>
      </pc:docMkLst>
      <pc:sldChg chg="addSp delSp mod">
        <pc:chgData name="Manuel Marquez Martinez-Feduchi" userId="9dfa6c2a-fe4c-47a3-827d-317ef510a436" providerId="ADAL" clId="{6F89CAD9-CB6B-4693-A4B5-F17EA3009FEA}" dt="2026-10-21T06:20:21.898" v="336" actId="21"/>
        <pc:sldMkLst>
          <pc:docMk/>
          <pc:sldMk cId="0" sldId="260"/>
        </pc:sldMkLst>
        <pc:spChg chg="add del">
          <ac:chgData name="Manuel Marquez Martinez-Feduchi" userId="9dfa6c2a-fe4c-47a3-827d-317ef510a436" providerId="ADAL" clId="{6F89CAD9-CB6B-4693-A4B5-F17EA3009FEA}" dt="2026-10-21T06:20:21.898" v="336" actId="21"/>
          <ac:spMkLst>
            <pc:docMk/>
            <pc:sldMk cId="0" sldId="260"/>
            <ac:spMk id="3" creationId="{B9535C00-D786-853F-F086-F575198E8144}"/>
          </ac:spMkLst>
        </pc:spChg>
      </pc:sldChg>
      <pc:sldChg chg="modSp mod">
        <pc:chgData name="Manuel Marquez Martinez-Feduchi" userId="9dfa6c2a-fe4c-47a3-827d-317ef510a436" providerId="ADAL" clId="{6F89CAD9-CB6B-4693-A4B5-F17EA3009FEA}" dt="2026-10-21T06:16:02.940" v="5" actId="1076"/>
        <pc:sldMkLst>
          <pc:docMk/>
          <pc:sldMk cId="0" sldId="262"/>
        </pc:sldMkLst>
        <pc:spChg chg="mod">
          <ac:chgData name="Manuel Marquez Martinez-Feduchi" userId="9dfa6c2a-fe4c-47a3-827d-317ef510a436" providerId="ADAL" clId="{6F89CAD9-CB6B-4693-A4B5-F17EA3009FEA}" dt="2026-10-21T06:16:00.592" v="4" actId="1076"/>
          <ac:spMkLst>
            <pc:docMk/>
            <pc:sldMk cId="0" sldId="262"/>
            <ac:spMk id="230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6:02.940" v="5" actId="1076"/>
          <ac:spMkLst>
            <pc:docMk/>
            <pc:sldMk cId="0" sldId="262"/>
            <ac:spMk id="231" creationId="{00000000-0000-0000-0000-000000000000}"/>
          </ac:spMkLst>
        </pc:spChg>
      </pc:sldChg>
      <pc:sldChg chg="addSp modSp mod">
        <pc:chgData name="Manuel Marquez Martinez-Feduchi" userId="9dfa6c2a-fe4c-47a3-827d-317ef510a436" providerId="ADAL" clId="{6F89CAD9-CB6B-4693-A4B5-F17EA3009FEA}" dt="2026-10-21T06:18:19.848" v="334" actId="14100"/>
        <pc:sldMkLst>
          <pc:docMk/>
          <pc:sldMk cId="0" sldId="264"/>
        </pc:sldMkLst>
        <pc:spChg chg="add 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3" creationId="{58327CC2-696E-52FE-FBE5-81BD55A4655D}"/>
          </ac:spMkLst>
        </pc:spChg>
        <pc:spChg chg="add 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5" creationId="{A0A30968-E556-1A60-4D08-3BA15221362A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78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79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81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85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86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87" creationId="{00000000-0000-0000-0000-000000000000}"/>
          </ac:spMkLst>
        </pc:spChg>
        <pc:spChg chg="mod">
          <ac:chgData name="Manuel Marquez Martinez-Feduchi" userId="9dfa6c2a-fe4c-47a3-827d-317ef510a436" providerId="ADAL" clId="{6F89CAD9-CB6B-4693-A4B5-F17EA3009FEA}" dt="2026-10-21T06:18:17.234" v="333" actId="1076"/>
          <ac:spMkLst>
            <pc:docMk/>
            <pc:sldMk cId="0" sldId="264"/>
            <ac:spMk id="288" creationId="{00000000-0000-0000-0000-000000000000}"/>
          </ac:spMkLst>
        </pc:spChg>
        <pc:picChg chg="mod">
          <ac:chgData name="Manuel Marquez Martinez-Feduchi" userId="9dfa6c2a-fe4c-47a3-827d-317ef510a436" providerId="ADAL" clId="{6F89CAD9-CB6B-4693-A4B5-F17EA3009FEA}" dt="2026-10-21T06:18:19.848" v="334" actId="14100"/>
          <ac:picMkLst>
            <pc:docMk/>
            <pc:sldMk cId="0" sldId="264"/>
            <ac:picMk id="6" creationId="{6CBB1AC8-3706-C279-3C3D-4FCEAA1F844F}"/>
          </ac:picMkLst>
        </pc:picChg>
      </pc:sldChg>
      <pc:sldChg chg="addSp modSp new mod">
        <pc:chgData name="Manuel Marquez Martinez-Feduchi" userId="9dfa6c2a-fe4c-47a3-827d-317ef510a436" providerId="ADAL" clId="{6F89CAD9-CB6B-4693-A4B5-F17EA3009FEA}" dt="2026-10-21T06:21:50.649" v="443" actId="167"/>
        <pc:sldMkLst>
          <pc:docMk/>
          <pc:sldMk cId="3012797470" sldId="268"/>
        </pc:sldMkLst>
        <pc:spChg chg="add mod">
          <ac:chgData name="Manuel Marquez Martinez-Feduchi" userId="9dfa6c2a-fe4c-47a3-827d-317ef510a436" providerId="ADAL" clId="{6F89CAD9-CB6B-4693-A4B5-F17EA3009FEA}" dt="2026-10-21T06:21:38.692" v="439" actId="114"/>
          <ac:spMkLst>
            <pc:docMk/>
            <pc:sldMk cId="3012797470" sldId="268"/>
            <ac:spMk id="3" creationId="{24B0A3E3-2223-A3BD-A90B-3EF08B761DEF}"/>
          </ac:spMkLst>
        </pc:spChg>
        <pc:spChg chg="add mod">
          <ac:chgData name="Manuel Marquez Martinez-Feduchi" userId="9dfa6c2a-fe4c-47a3-827d-317ef510a436" providerId="ADAL" clId="{6F89CAD9-CB6B-4693-A4B5-F17EA3009FEA}" dt="2026-10-21T06:21:30.255" v="437" actId="20577"/>
          <ac:spMkLst>
            <pc:docMk/>
            <pc:sldMk cId="3012797470" sldId="268"/>
            <ac:spMk id="5" creationId="{48BC1DB9-64D4-2245-1173-6F69FBB93CE8}"/>
          </ac:spMkLst>
        </pc:spChg>
        <pc:picChg chg="add mod ord">
          <ac:chgData name="Manuel Marquez Martinez-Feduchi" userId="9dfa6c2a-fe4c-47a3-827d-317ef510a436" providerId="ADAL" clId="{6F89CAD9-CB6B-4693-A4B5-F17EA3009FEA}" dt="2026-10-21T06:21:50.649" v="443" actId="167"/>
          <ac:picMkLst>
            <pc:docMk/>
            <pc:sldMk cId="3012797470" sldId="268"/>
            <ac:picMk id="7" creationId="{F5E8F445-BAA9-4327-91E7-BD904FA2AD8F}"/>
          </ac:picMkLst>
        </pc:picChg>
      </pc:sldChg>
      <pc:sldChg chg="addSp modSp new mod">
        <pc:chgData name="Manuel Marquez Martinez-Feduchi" userId="9dfa6c2a-fe4c-47a3-827d-317ef510a436" providerId="ADAL" clId="{6F89CAD9-CB6B-4693-A4B5-F17EA3009FEA}" dt="2026-10-21T06:23:45.814" v="497" actId="207"/>
        <pc:sldMkLst>
          <pc:docMk/>
          <pc:sldMk cId="3744361992" sldId="269"/>
        </pc:sldMkLst>
        <pc:spChg chg="add mod">
          <ac:chgData name="Manuel Marquez Martinez-Feduchi" userId="9dfa6c2a-fe4c-47a3-827d-317ef510a436" providerId="ADAL" clId="{6F89CAD9-CB6B-4693-A4B5-F17EA3009FEA}" dt="2026-10-21T06:23:45.814" v="497" actId="207"/>
          <ac:spMkLst>
            <pc:docMk/>
            <pc:sldMk cId="3744361992" sldId="269"/>
            <ac:spMk id="5" creationId="{4FD56AC9-D4FD-A80F-E452-4651D2633C87}"/>
          </ac:spMkLst>
        </pc:spChg>
        <pc:spChg chg="add mod">
          <ac:chgData name="Manuel Marquez Martinez-Feduchi" userId="9dfa6c2a-fe4c-47a3-827d-317ef510a436" providerId="ADAL" clId="{6F89CAD9-CB6B-4693-A4B5-F17EA3009FEA}" dt="2026-10-21T06:23:03.345" v="480" actId="20577"/>
          <ac:spMkLst>
            <pc:docMk/>
            <pc:sldMk cId="3744361992" sldId="269"/>
            <ac:spMk id="7" creationId="{636923F5-A2FC-9E3E-81E6-E8072C5689A8}"/>
          </ac:spMkLst>
        </pc:spChg>
        <pc:picChg chg="add mod">
          <ac:chgData name="Manuel Marquez Martinez-Feduchi" userId="9dfa6c2a-fe4c-47a3-827d-317ef510a436" providerId="ADAL" clId="{6F89CAD9-CB6B-4693-A4B5-F17EA3009FEA}" dt="2026-10-21T06:22:39.598" v="454" actId="14100"/>
          <ac:picMkLst>
            <pc:docMk/>
            <pc:sldMk cId="3744361992" sldId="269"/>
            <ac:picMk id="3" creationId="{027AA0C4-7FE0-7E13-937C-45C7B646E7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8133DD53-5287-DE88-7211-CCF18502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>
            <a:extLst>
              <a:ext uri="{FF2B5EF4-FFF2-40B4-BE49-F238E27FC236}">
                <a16:creationId xmlns:a16="http://schemas.microsoft.com/office/drawing/2014/main" id="{A72FBFDA-A864-B805-AB63-C2A865D0C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¿Cómo funciona y para qué sirve?</a:t>
            </a:r>
          </a:p>
          <a:p>
            <a:endParaRPr lang="es-ES" sz="1100" b="1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 conector universal te permite vincular los datos de tus programas habituales (como un sistema de contabilidad o un CRM propio de tu empresa) con los expedientes guardados en Therefore™. Esto se logra mediante dos funciones principales: </a:t>
            </a:r>
          </a:p>
          <a:p>
            <a:pPr marL="158750" indent="0">
              <a:buNone/>
            </a:pPr>
            <a:endParaRPr lang="es-ES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Búsquedas rápidas:</a:t>
            </a: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Puedes estar trabajando en una aplicación de tu empresa, seleccionar un texto (como un número de factura o el nombre de un cliente) y presionar un atajo. El conector abrirá una ventana de búsqueda en Therefore™ y rellenará los datos automáticamente para mostrarte los documentos relacionados. </a:t>
            </a:r>
          </a:p>
          <a:p>
            <a:pPr lvl="0"/>
            <a:endParaRPr lang="es-ES" sz="1100" b="1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Guardado e indexación automáticos:</a:t>
            </a: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Cuando escaneas o subes un documento nuevo a Therefore™, el conector puede extraer la información directamente del programa que tienes abierto en Windows en ese momento. Así, las etiquetas y campos del documento se llenan solos, evitando que tengas que escribirlos a mano. </a:t>
            </a:r>
          </a:p>
          <a:p>
            <a:pPr lvl="0"/>
            <a:endParaRPr lang="es-ES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lvl="0" indent="0">
              <a:buNone/>
            </a:pPr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Ventajas principales</a:t>
            </a:r>
          </a:p>
          <a:p>
            <a:pPr lvl="0"/>
            <a:endParaRPr lang="es-ES" sz="1100" b="1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Integración sin código (</a:t>
            </a:r>
            <a:r>
              <a:rPr lang="es-ES" sz="1100" b="1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Codeless</a:t>
            </a:r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No necesitas contratar programadores ni usar complejas interfaces de desarrollo (API) para unir tus sistemas. </a:t>
            </a:r>
          </a:p>
          <a:p>
            <a:pPr lvl="0"/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Ahorro de tiempo:</a:t>
            </a: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Evita copiar y pegar datos constantemente entre diferentes pantallas y ventanas.</a:t>
            </a:r>
          </a:p>
          <a:p>
            <a:pPr lvl="0"/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Instalación modular:</a:t>
            </a: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Se instala directamente como un componente del servidor o del cliente de Therefore™ en los entornos Windows de la empresa. </a:t>
            </a:r>
          </a:p>
          <a:p>
            <a:pPr marL="158750" indent="0">
              <a:buNone/>
            </a:pPr>
            <a:endParaRPr lang="es-ES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diferencia de los conectores nativos preconstruidos (que sirven para programas específicos y gigantes como SAP, Microsoft Dynamics 365 o SharePoint), el </a:t>
            </a:r>
            <a:r>
              <a:rPr lang="es-ES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Universal </a:t>
            </a:r>
            <a:r>
              <a:rPr lang="es-ES" sz="1100" b="1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Connector</a:t>
            </a:r>
            <a:r>
              <a:rPr lang="es-ES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está pensado para ser flexible y adaptarse a casi cualquier programa ejecutable de Windows que use tu negocio. </a:t>
            </a:r>
          </a:p>
          <a:p>
            <a:pPr marL="158750" indent="0">
              <a:buNone/>
            </a:pPr>
            <a:br>
              <a:rPr lang="es-ES" dirty="0"/>
            </a:br>
            <a:br>
              <a:rPr lang="es-ES" dirty="0"/>
            </a:br>
            <a:endParaRPr dirty="0"/>
          </a:p>
        </p:txBody>
      </p:sp>
      <p:sp>
        <p:nvSpPr>
          <p:cNvPr id="198" name="Google Shape;198;p6:notes">
            <a:extLst>
              <a:ext uri="{FF2B5EF4-FFF2-40B4-BE49-F238E27FC236}">
                <a16:creationId xmlns:a16="http://schemas.microsoft.com/office/drawing/2014/main" id="{BFD66DAC-A488-B7A0-ABB7-A68C6FFB9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rporate Chapter slide 0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0720389" y="6500020"/>
            <a:ext cx="683418" cy="141289"/>
          </a:xfrm>
        </p:spPr>
        <p:txBody>
          <a:bodyPr/>
          <a:lstStyle/>
          <a:p>
            <a:fld id="{F3E77D01-BCC2-46FA-BB73-E707A5A312FF}" type="datetime1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22091" y="6500020"/>
            <a:ext cx="4483100" cy="141289"/>
          </a:xfrm>
        </p:spPr>
        <p:txBody>
          <a:bodyPr/>
          <a:lstStyle/>
          <a:p>
            <a:r>
              <a:rPr lang="en-GB"/>
              <a:t>Document Name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03806" y="6500020"/>
            <a:ext cx="237331" cy="141289"/>
          </a:xfrm>
        </p:spPr>
        <p:txBody>
          <a:bodyPr/>
          <a:lstStyle/>
          <a:p>
            <a:fld id="{6DD55292-72D6-41B9-85AE-FA31A2F7279B}" type="slidenum">
              <a:rPr lang="en-GB" smtClean="0"/>
              <a:t>‹Nº›</a:t>
            </a:fld>
            <a:endParaRPr lang="en-GB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550863" y="252417"/>
            <a:ext cx="4442242" cy="2387600"/>
          </a:xfrm>
        </p:spPr>
        <p:txBody>
          <a:bodyPr anchor="b">
            <a:normAutofit/>
          </a:bodyPr>
          <a:lstStyle>
            <a:lvl1pPr algn="l">
              <a:lnSpc>
                <a:spcPct val="77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550863" y="2792415"/>
            <a:ext cx="4442242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76" y="2"/>
            <a:ext cx="7019925" cy="5648325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58488" y="6483265"/>
            <a:ext cx="913086" cy="198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Security Level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298191" y="6485124"/>
            <a:ext cx="411480" cy="19800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v. 1.0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1" y="5940000"/>
            <a:ext cx="11087945" cy="3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rporate Chapt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0720389" y="6500020"/>
            <a:ext cx="683418" cy="141289"/>
          </a:xfrm>
        </p:spPr>
        <p:txBody>
          <a:bodyPr/>
          <a:lstStyle/>
          <a:p>
            <a:fld id="{1358B1B9-94F2-4E84-82A1-49F20CE4F4E0}" type="datetime1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22091" y="6500020"/>
            <a:ext cx="4483100" cy="141289"/>
          </a:xfrm>
        </p:spPr>
        <p:txBody>
          <a:bodyPr/>
          <a:lstStyle/>
          <a:p>
            <a:r>
              <a:rPr lang="en-GB"/>
              <a:t>Document Name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03806" y="6500020"/>
            <a:ext cx="237331" cy="141289"/>
          </a:xfrm>
        </p:spPr>
        <p:txBody>
          <a:bodyPr/>
          <a:lstStyle/>
          <a:p>
            <a:fld id="{6DD55292-72D6-41B9-85AE-FA31A2F7279B}" type="slidenum">
              <a:rPr lang="en-GB" smtClean="0"/>
              <a:t>‹Nº›</a:t>
            </a:fld>
            <a:endParaRPr lang="en-GB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"/>
            <a:ext cx="7019925" cy="5648325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7749759" y="252417"/>
            <a:ext cx="3891380" cy="2387600"/>
          </a:xfrm>
        </p:spPr>
        <p:txBody>
          <a:bodyPr anchor="b">
            <a:normAutofit/>
          </a:bodyPr>
          <a:lstStyle>
            <a:lvl1pPr algn="l">
              <a:lnSpc>
                <a:spcPct val="77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7749759" y="2792415"/>
            <a:ext cx="3891380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58488" y="6483265"/>
            <a:ext cx="913086" cy="198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Security Level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298191" y="6485124"/>
            <a:ext cx="411480" cy="19800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v. 1.0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1" y="5940000"/>
            <a:ext cx="11087945" cy="3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8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rporate Chapter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0720389" y="6500020"/>
            <a:ext cx="683418" cy="141289"/>
          </a:xfrm>
        </p:spPr>
        <p:txBody>
          <a:bodyPr/>
          <a:lstStyle/>
          <a:p>
            <a:fld id="{F0D970AE-14BF-4679-8625-597E4AEAAC9A}" type="datetime1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22091" y="6500020"/>
            <a:ext cx="4483100" cy="141289"/>
          </a:xfrm>
        </p:spPr>
        <p:txBody>
          <a:bodyPr/>
          <a:lstStyle/>
          <a:p>
            <a:r>
              <a:rPr lang="en-GB"/>
              <a:t>Document Name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03806" y="6500020"/>
            <a:ext cx="237331" cy="141289"/>
          </a:xfrm>
        </p:spPr>
        <p:txBody>
          <a:bodyPr/>
          <a:lstStyle/>
          <a:p>
            <a:fld id="{6DD55292-72D6-41B9-85AE-FA31A2F7279B}" type="slidenum">
              <a:rPr lang="en-GB" smtClean="0"/>
              <a:t>‹Nº›</a:t>
            </a:fld>
            <a:endParaRPr lang="en-GB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550863" y="252417"/>
            <a:ext cx="4442242" cy="2387600"/>
          </a:xfrm>
        </p:spPr>
        <p:txBody>
          <a:bodyPr anchor="b">
            <a:normAutofit/>
          </a:bodyPr>
          <a:lstStyle>
            <a:lvl1pPr algn="l">
              <a:lnSpc>
                <a:spcPct val="77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550863" y="2792415"/>
            <a:ext cx="4442242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76" y="2"/>
            <a:ext cx="7019925" cy="5648325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58488" y="6483265"/>
            <a:ext cx="913086" cy="198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Security Level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298191" y="6485124"/>
            <a:ext cx="411480" cy="19800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v. 1.0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1" y="5940000"/>
            <a:ext cx="11087945" cy="3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rporate Chapter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0720389" y="6500020"/>
            <a:ext cx="683418" cy="141289"/>
          </a:xfrm>
        </p:spPr>
        <p:txBody>
          <a:bodyPr/>
          <a:lstStyle/>
          <a:p>
            <a:fld id="{0D3B50E4-947E-474C-838E-4EE60C69F631}" type="datetime1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22091" y="6500020"/>
            <a:ext cx="4483100" cy="141289"/>
          </a:xfrm>
        </p:spPr>
        <p:txBody>
          <a:bodyPr/>
          <a:lstStyle/>
          <a:p>
            <a:r>
              <a:rPr lang="en-GB"/>
              <a:t>Document Name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03806" y="6500020"/>
            <a:ext cx="237331" cy="141289"/>
          </a:xfrm>
        </p:spPr>
        <p:txBody>
          <a:bodyPr/>
          <a:lstStyle/>
          <a:p>
            <a:fld id="{6DD55292-72D6-41B9-85AE-FA31A2F7279B}" type="slidenum">
              <a:rPr lang="en-GB" smtClean="0"/>
              <a:t>‹Nº›</a:t>
            </a:fld>
            <a:endParaRPr lang="en-GB"/>
          </a:p>
        </p:txBody>
      </p: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7749759" y="252417"/>
            <a:ext cx="3891380" cy="2387600"/>
          </a:xfrm>
        </p:spPr>
        <p:txBody>
          <a:bodyPr anchor="b">
            <a:normAutofit/>
          </a:bodyPr>
          <a:lstStyle>
            <a:lvl1pPr algn="l">
              <a:lnSpc>
                <a:spcPct val="77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7749759" y="2792415"/>
            <a:ext cx="3891380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"/>
            <a:ext cx="7019925" cy="5648325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58488" y="6483265"/>
            <a:ext cx="913086" cy="198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Security Level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298191" y="6485124"/>
            <a:ext cx="411480" cy="19800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v. 1.0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1" y="5940000"/>
            <a:ext cx="11087945" cy="3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352800" y="919167"/>
            <a:ext cx="7647296" cy="2387600"/>
          </a:xfrm>
        </p:spPr>
        <p:txBody>
          <a:bodyPr anchor="b">
            <a:normAutofit/>
          </a:bodyPr>
          <a:lstStyle>
            <a:lvl1pPr algn="l">
              <a:defRPr sz="5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352800" y="3506790"/>
            <a:ext cx="7647296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80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633332" y="919167"/>
            <a:ext cx="6854687" cy="2387600"/>
          </a:xfrm>
        </p:spPr>
        <p:txBody>
          <a:bodyPr anchor="b">
            <a:normAutofit/>
          </a:bodyPr>
          <a:lstStyle>
            <a:lvl1pPr algn="l">
              <a:defRPr sz="5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633331" y="3506790"/>
            <a:ext cx="7647296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48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352800" y="1803749"/>
            <a:ext cx="7647296" cy="2387600"/>
          </a:xfrm>
        </p:spPr>
        <p:txBody>
          <a:bodyPr anchor="b">
            <a:normAutofit/>
          </a:bodyPr>
          <a:lstStyle>
            <a:lvl1pPr algn="l">
              <a:defRPr sz="5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352800" y="4391372"/>
            <a:ext cx="7647296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5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426" y="764704"/>
            <a:ext cx="819291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6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4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352800" y="919167"/>
            <a:ext cx="7647296" cy="2387600"/>
          </a:xfrm>
        </p:spPr>
        <p:txBody>
          <a:bodyPr anchor="b">
            <a:normAutofit/>
          </a:bodyPr>
          <a:lstStyle>
            <a:lvl1pPr algn="l">
              <a:defRPr sz="5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352800" y="3506790"/>
            <a:ext cx="7647296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909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5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352800" y="1481000"/>
            <a:ext cx="7647296" cy="2387600"/>
          </a:xfrm>
        </p:spPr>
        <p:txBody>
          <a:bodyPr anchor="b">
            <a:normAutofit/>
          </a:bodyPr>
          <a:lstStyle>
            <a:lvl1pPr algn="l">
              <a:defRPr sz="5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352800" y="4068623"/>
            <a:ext cx="7647296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2EB370-BCA9-4E09-9FCC-0DE89695E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9" r="-1" b="7198"/>
          <a:stretch/>
        </p:blipFill>
        <p:spPr>
          <a:xfrm>
            <a:off x="20" y="227"/>
            <a:ext cx="12191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9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6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50863" y="0"/>
            <a:ext cx="7647296" cy="1736382"/>
          </a:xfrm>
        </p:spPr>
        <p:txBody>
          <a:bodyPr anchor="b">
            <a:normAutofit/>
          </a:bodyPr>
          <a:lstStyle>
            <a:lvl1pPr algn="l">
              <a:defRPr sz="5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50863" y="1936405"/>
            <a:ext cx="7647296" cy="165576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30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rporate 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0720388" y="6500022"/>
            <a:ext cx="683419" cy="141289"/>
          </a:xfrm>
        </p:spPr>
        <p:txBody>
          <a:bodyPr/>
          <a:lstStyle/>
          <a:p>
            <a:fld id="{703E2748-9D88-4DD2-8B21-620EAC300262}" type="datetime1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22091" y="6500022"/>
            <a:ext cx="4483100" cy="141289"/>
          </a:xfrm>
        </p:spPr>
        <p:txBody>
          <a:bodyPr/>
          <a:lstStyle/>
          <a:p>
            <a:r>
              <a:rPr lang="es-ES"/>
              <a:t>Nombre del documento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03807" y="6500022"/>
            <a:ext cx="237331" cy="141289"/>
          </a:xfrm>
        </p:spPr>
        <p:txBody>
          <a:bodyPr/>
          <a:lstStyle/>
          <a:p>
            <a:fld id="{6DD55292-72D6-41B9-85AE-FA31A2F7279B}" type="slidenum">
              <a:rPr lang="en-GB" smtClean="0"/>
              <a:t>‹Nº›</a:t>
            </a:fld>
            <a:endParaRPr lang="en-GB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52001" y="6320857"/>
            <a:ext cx="11088000" cy="0"/>
          </a:xfrm>
          <a:prstGeom prst="line">
            <a:avLst/>
          </a:pr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0601"/>
          <a:stretch/>
        </p:blipFill>
        <p:spPr>
          <a:xfrm>
            <a:off x="548483" y="5933749"/>
            <a:ext cx="1046599" cy="238452"/>
          </a:xfrm>
          <a:prstGeom prst="rect">
            <a:avLst/>
          </a:prstGeom>
        </p:spPr>
      </p:pic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58487" y="6483265"/>
            <a:ext cx="913087" cy="198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43" indent="0">
              <a:buNone/>
              <a:defRPr sz="1400"/>
            </a:lvl2pPr>
            <a:lvl3pPr marL="914286" indent="0">
              <a:buNone/>
              <a:defRPr sz="1200"/>
            </a:lvl3pPr>
            <a:lvl4pPr marL="1371429" indent="0">
              <a:buNone/>
              <a:defRPr sz="1000"/>
            </a:lvl4pPr>
            <a:lvl5pPr marL="1828571" indent="0">
              <a:buNone/>
              <a:defRPr sz="1000"/>
            </a:lvl5pPr>
            <a:lvl6pPr marL="2285714" indent="0">
              <a:buNone/>
              <a:defRPr sz="1000"/>
            </a:lvl6pPr>
            <a:lvl7pPr marL="2742857" indent="0">
              <a:buNone/>
              <a:defRPr sz="1000"/>
            </a:lvl7pPr>
            <a:lvl8pPr marL="3200000" indent="0">
              <a:buNone/>
              <a:defRPr sz="1000"/>
            </a:lvl8pPr>
            <a:lvl9pPr marL="3657143" indent="0">
              <a:buNone/>
              <a:defRPr sz="1000"/>
            </a:lvl9pPr>
          </a:lstStyle>
          <a:p>
            <a:pPr lvl="0"/>
            <a:r>
              <a:rPr lang="es-ES"/>
              <a:t>Nivel de seguridad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298191" y="6485124"/>
            <a:ext cx="411480" cy="19800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43" indent="0">
              <a:buNone/>
              <a:defRPr sz="1400"/>
            </a:lvl2pPr>
            <a:lvl3pPr marL="914286" indent="0">
              <a:buNone/>
              <a:defRPr sz="1200"/>
            </a:lvl3pPr>
            <a:lvl4pPr marL="1371429" indent="0">
              <a:buNone/>
              <a:defRPr sz="1000"/>
            </a:lvl4pPr>
            <a:lvl5pPr marL="1828571" indent="0">
              <a:buNone/>
              <a:defRPr sz="1000"/>
            </a:lvl5pPr>
            <a:lvl6pPr marL="2285714" indent="0">
              <a:buNone/>
              <a:defRPr sz="1000"/>
            </a:lvl6pPr>
            <a:lvl7pPr marL="2742857" indent="0">
              <a:buNone/>
              <a:defRPr sz="1000"/>
            </a:lvl7pPr>
            <a:lvl8pPr marL="3200000" indent="0">
              <a:buNone/>
              <a:defRPr sz="1000"/>
            </a:lvl8pPr>
            <a:lvl9pPr marL="3657143" indent="0">
              <a:buNone/>
              <a:defRPr sz="1000"/>
            </a:lvl9pPr>
          </a:lstStyle>
          <a:p>
            <a:pPr lvl="0"/>
            <a:r>
              <a:rPr lang="es-ES"/>
              <a:t>v. 1.0</a:t>
            </a:r>
          </a:p>
        </p:txBody>
      </p:sp>
      <p:pic>
        <p:nvPicPr>
          <p:cNvPr id="13" name="Imagen 12" descr="Imagen que contiene montaña, tablero, grande, firmar&#10;&#10;Descripción generada automáticamente">
            <a:extLst>
              <a:ext uri="{FF2B5EF4-FFF2-40B4-BE49-F238E27FC236}">
                <a16:creationId xmlns:a16="http://schemas.microsoft.com/office/drawing/2014/main" id="{E998920D-8991-423F-A349-A7386D19A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82" b="12997"/>
          <a:stretch/>
        </p:blipFill>
        <p:spPr>
          <a:xfrm>
            <a:off x="1" y="2"/>
            <a:ext cx="12192000" cy="56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47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676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ctangle 3"/>
          <p:cNvSpPr/>
          <p:nvPr/>
        </p:nvSpPr>
        <p:spPr>
          <a:xfrm>
            <a:off x="347871" y="5764696"/>
            <a:ext cx="2067338" cy="10933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2" tIns="45712" rIns="45712" bIns="45712" anchor="ctr"/>
          <a:lstStyle/>
          <a:p>
            <a:pPr algn="ctr">
              <a:defRPr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1400"/>
          </a:p>
        </p:txBody>
      </p:sp>
      <p:pic>
        <p:nvPicPr>
          <p:cNvPr id="683" name="Graphic 18" descr="Graphic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69" y="6168313"/>
            <a:ext cx="1123040" cy="233085"/>
          </a:xfrm>
          <a:prstGeom prst="rect">
            <a:avLst/>
          </a:prstGeom>
          <a:ln w="12700">
            <a:miter lim="400000"/>
          </a:ln>
        </p:spPr>
      </p:pic>
      <p:sp>
        <p:nvSpPr>
          <p:cNvPr id="684" name="Texto del título"/>
          <p:cNvSpPr txBox="1">
            <a:spLocks noGrp="1"/>
          </p:cNvSpPr>
          <p:nvPr>
            <p:ph type="title"/>
          </p:nvPr>
        </p:nvSpPr>
        <p:spPr>
          <a:xfrm>
            <a:off x="473743" y="502443"/>
            <a:ext cx="11167397" cy="1095440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85" name="Nivel de texto 1…"/>
          <p:cNvSpPr txBox="1">
            <a:spLocks noGrp="1"/>
          </p:cNvSpPr>
          <p:nvPr>
            <p:ph type="body" idx="1"/>
          </p:nvPr>
        </p:nvSpPr>
        <p:spPr>
          <a:xfrm>
            <a:off x="473743" y="1601999"/>
            <a:ext cx="11167397" cy="4044740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8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486909" y="6240142"/>
            <a:ext cx="371945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22233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Cropp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A60F9-6A9C-9CA0-2AE9-F1055DCAD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12" y="1254125"/>
            <a:ext cx="4824000" cy="348198"/>
          </a:xfrm>
        </p:spPr>
        <p:txBody>
          <a:bodyPr anchor="b" anchorCtr="0">
            <a:noAutofit/>
          </a:bodyPr>
          <a:lstStyle>
            <a:lvl1pPr>
              <a:lnSpc>
                <a:spcPct val="75000"/>
              </a:lnSpc>
              <a:spcAft>
                <a:spcPts val="0"/>
              </a:spcAft>
              <a:defRPr sz="1800" b="1" i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181FF4-AB6A-CCE5-5D00-2A35ED1038A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8007BA-9679-4E44-ABF6-7039AA085EDF}" type="datetime1">
              <a:rPr lang="en-GB" smtClean="0"/>
              <a:t>21/10/2026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D339FC6-8981-B8C5-BCDF-25847392D4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R2 – Confidential | Document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F1A4-3E3F-5BE9-3275-0B8B16725D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AD9F0F7-B74B-5A49-B5D0-D1744BC7710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6116BC9-0E0C-4505-63BF-D2C274BDF6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3213" y="1647825"/>
            <a:ext cx="4824000" cy="4680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A65C0-DE6B-23EC-AE98-D1E62FD2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559590"/>
            <a:ext cx="4824000" cy="684000"/>
          </a:xfrm>
        </p:spPr>
        <p:txBody>
          <a:bodyPr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694867FC-82D2-A7BD-6C1C-E5902F2A3C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20999" y="518070"/>
            <a:ext cx="6772552" cy="5817645"/>
          </a:xfrm>
          <a:custGeom>
            <a:avLst/>
            <a:gdLst>
              <a:gd name="connsiteX0" fmla="*/ 0 w 6908131"/>
              <a:gd name="connsiteY0" fmla="*/ 0 h 6319295"/>
              <a:gd name="connsiteX1" fmla="*/ 6908131 w 6908131"/>
              <a:gd name="connsiteY1" fmla="*/ 0 h 6319295"/>
              <a:gd name="connsiteX2" fmla="*/ 6908131 w 6908131"/>
              <a:gd name="connsiteY2" fmla="*/ 6319295 h 6319295"/>
              <a:gd name="connsiteX3" fmla="*/ 0 w 6908131"/>
              <a:gd name="connsiteY3" fmla="*/ 6319295 h 6319295"/>
              <a:gd name="connsiteX4" fmla="*/ 0 w 6908131"/>
              <a:gd name="connsiteY4" fmla="*/ 0 h 6319295"/>
              <a:gd name="connsiteX0" fmla="*/ 0 w 6908131"/>
              <a:gd name="connsiteY0" fmla="*/ 0 h 6319295"/>
              <a:gd name="connsiteX1" fmla="*/ 6908131 w 6908131"/>
              <a:gd name="connsiteY1" fmla="*/ 0 h 6319295"/>
              <a:gd name="connsiteX2" fmla="*/ 6908131 w 6908131"/>
              <a:gd name="connsiteY2" fmla="*/ 6319295 h 6319295"/>
              <a:gd name="connsiteX3" fmla="*/ 1720565 w 6908131"/>
              <a:gd name="connsiteY3" fmla="*/ 6315563 h 6319295"/>
              <a:gd name="connsiteX4" fmla="*/ 0 w 6908131"/>
              <a:gd name="connsiteY4" fmla="*/ 0 h 6319295"/>
              <a:gd name="connsiteX0" fmla="*/ 0 w 6893202"/>
              <a:gd name="connsiteY0" fmla="*/ 0 h 6319295"/>
              <a:gd name="connsiteX1" fmla="*/ 6893202 w 6893202"/>
              <a:gd name="connsiteY1" fmla="*/ 0 h 6319295"/>
              <a:gd name="connsiteX2" fmla="*/ 6893202 w 6893202"/>
              <a:gd name="connsiteY2" fmla="*/ 6319295 h 6319295"/>
              <a:gd name="connsiteX3" fmla="*/ 1705636 w 6893202"/>
              <a:gd name="connsiteY3" fmla="*/ 6315563 h 6319295"/>
              <a:gd name="connsiteX4" fmla="*/ 0 w 6893202"/>
              <a:gd name="connsiteY4" fmla="*/ 0 h 6319295"/>
              <a:gd name="connsiteX0" fmla="*/ 0 w 6756677"/>
              <a:gd name="connsiteY0" fmla="*/ 501650 h 6319295"/>
              <a:gd name="connsiteX1" fmla="*/ 6756677 w 6756677"/>
              <a:gd name="connsiteY1" fmla="*/ 0 h 6319295"/>
              <a:gd name="connsiteX2" fmla="*/ 6756677 w 6756677"/>
              <a:gd name="connsiteY2" fmla="*/ 6319295 h 6319295"/>
              <a:gd name="connsiteX3" fmla="*/ 1569111 w 6756677"/>
              <a:gd name="connsiteY3" fmla="*/ 6315563 h 6319295"/>
              <a:gd name="connsiteX4" fmla="*/ 0 w 6756677"/>
              <a:gd name="connsiteY4" fmla="*/ 501650 h 6319295"/>
              <a:gd name="connsiteX0" fmla="*/ 0 w 6763027"/>
              <a:gd name="connsiteY0" fmla="*/ 0 h 5817645"/>
              <a:gd name="connsiteX1" fmla="*/ 6763027 w 6763027"/>
              <a:gd name="connsiteY1" fmla="*/ 0 h 5817645"/>
              <a:gd name="connsiteX2" fmla="*/ 6756677 w 6763027"/>
              <a:gd name="connsiteY2" fmla="*/ 5817645 h 5817645"/>
              <a:gd name="connsiteX3" fmla="*/ 1569111 w 6763027"/>
              <a:gd name="connsiteY3" fmla="*/ 5813913 h 5817645"/>
              <a:gd name="connsiteX4" fmla="*/ 0 w 6763027"/>
              <a:gd name="connsiteY4" fmla="*/ 0 h 5817645"/>
              <a:gd name="connsiteX0" fmla="*/ 0 w 6763027"/>
              <a:gd name="connsiteY0" fmla="*/ 0 h 5817645"/>
              <a:gd name="connsiteX1" fmla="*/ 6763027 w 6763027"/>
              <a:gd name="connsiteY1" fmla="*/ 0 h 5817645"/>
              <a:gd name="connsiteX2" fmla="*/ 6756677 w 6763027"/>
              <a:gd name="connsiteY2" fmla="*/ 5817645 h 5817645"/>
              <a:gd name="connsiteX3" fmla="*/ 1572286 w 6763027"/>
              <a:gd name="connsiteY3" fmla="*/ 5817088 h 5817645"/>
              <a:gd name="connsiteX4" fmla="*/ 0 w 6763027"/>
              <a:gd name="connsiteY4" fmla="*/ 0 h 5817645"/>
              <a:gd name="connsiteX0" fmla="*/ 0 w 6772552"/>
              <a:gd name="connsiteY0" fmla="*/ 3175 h 5817645"/>
              <a:gd name="connsiteX1" fmla="*/ 6772552 w 6772552"/>
              <a:gd name="connsiteY1" fmla="*/ 0 h 5817645"/>
              <a:gd name="connsiteX2" fmla="*/ 6766202 w 6772552"/>
              <a:gd name="connsiteY2" fmla="*/ 5817645 h 5817645"/>
              <a:gd name="connsiteX3" fmla="*/ 1581811 w 6772552"/>
              <a:gd name="connsiteY3" fmla="*/ 5817088 h 5817645"/>
              <a:gd name="connsiteX4" fmla="*/ 0 w 6772552"/>
              <a:gd name="connsiteY4" fmla="*/ 3175 h 581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72552" h="5817645">
                <a:moveTo>
                  <a:pt x="0" y="3175"/>
                </a:moveTo>
                <a:lnTo>
                  <a:pt x="6772552" y="0"/>
                </a:lnTo>
                <a:cubicBezTo>
                  <a:pt x="6770435" y="1939215"/>
                  <a:pt x="6768319" y="3878430"/>
                  <a:pt x="6766202" y="5817645"/>
                </a:cubicBezTo>
                <a:lnTo>
                  <a:pt x="1581811" y="5817088"/>
                </a:lnTo>
                <a:lnTo>
                  <a:pt x="0" y="31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lIns="108000"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C8936-59F4-752F-2ADD-3EEC7E1E5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57529" y="381514"/>
            <a:ext cx="1675470" cy="60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8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Cropp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181FF4-AB6A-CCE5-5D00-2A35ED1038A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8007BA-9679-4E44-ABF6-7039AA085EDF}" type="datetime1">
              <a:rPr lang="en-GB" smtClean="0"/>
              <a:t>21/10/2026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D339FC6-8981-B8C5-BCDF-25847392D4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R2 – Confidential | Document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F1A4-3E3F-5BE9-3275-0B8B16725D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AD9F0F7-B74B-5A49-B5D0-D1744BC7710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55AFC0AA-498B-838E-028F-B6799B80D5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20999" y="518070"/>
            <a:ext cx="6772552" cy="5817645"/>
          </a:xfrm>
          <a:custGeom>
            <a:avLst/>
            <a:gdLst>
              <a:gd name="connsiteX0" fmla="*/ 0 w 6908131"/>
              <a:gd name="connsiteY0" fmla="*/ 0 h 6319295"/>
              <a:gd name="connsiteX1" fmla="*/ 6908131 w 6908131"/>
              <a:gd name="connsiteY1" fmla="*/ 0 h 6319295"/>
              <a:gd name="connsiteX2" fmla="*/ 6908131 w 6908131"/>
              <a:gd name="connsiteY2" fmla="*/ 6319295 h 6319295"/>
              <a:gd name="connsiteX3" fmla="*/ 0 w 6908131"/>
              <a:gd name="connsiteY3" fmla="*/ 6319295 h 6319295"/>
              <a:gd name="connsiteX4" fmla="*/ 0 w 6908131"/>
              <a:gd name="connsiteY4" fmla="*/ 0 h 6319295"/>
              <a:gd name="connsiteX0" fmla="*/ 0 w 6908131"/>
              <a:gd name="connsiteY0" fmla="*/ 0 h 6319295"/>
              <a:gd name="connsiteX1" fmla="*/ 6908131 w 6908131"/>
              <a:gd name="connsiteY1" fmla="*/ 0 h 6319295"/>
              <a:gd name="connsiteX2" fmla="*/ 6908131 w 6908131"/>
              <a:gd name="connsiteY2" fmla="*/ 6319295 h 6319295"/>
              <a:gd name="connsiteX3" fmla="*/ 1720565 w 6908131"/>
              <a:gd name="connsiteY3" fmla="*/ 6315563 h 6319295"/>
              <a:gd name="connsiteX4" fmla="*/ 0 w 6908131"/>
              <a:gd name="connsiteY4" fmla="*/ 0 h 6319295"/>
              <a:gd name="connsiteX0" fmla="*/ 0 w 6893202"/>
              <a:gd name="connsiteY0" fmla="*/ 0 h 6319295"/>
              <a:gd name="connsiteX1" fmla="*/ 6893202 w 6893202"/>
              <a:gd name="connsiteY1" fmla="*/ 0 h 6319295"/>
              <a:gd name="connsiteX2" fmla="*/ 6893202 w 6893202"/>
              <a:gd name="connsiteY2" fmla="*/ 6319295 h 6319295"/>
              <a:gd name="connsiteX3" fmla="*/ 1705636 w 6893202"/>
              <a:gd name="connsiteY3" fmla="*/ 6315563 h 6319295"/>
              <a:gd name="connsiteX4" fmla="*/ 0 w 6893202"/>
              <a:gd name="connsiteY4" fmla="*/ 0 h 6319295"/>
              <a:gd name="connsiteX0" fmla="*/ 0 w 6756677"/>
              <a:gd name="connsiteY0" fmla="*/ 501650 h 6319295"/>
              <a:gd name="connsiteX1" fmla="*/ 6756677 w 6756677"/>
              <a:gd name="connsiteY1" fmla="*/ 0 h 6319295"/>
              <a:gd name="connsiteX2" fmla="*/ 6756677 w 6756677"/>
              <a:gd name="connsiteY2" fmla="*/ 6319295 h 6319295"/>
              <a:gd name="connsiteX3" fmla="*/ 1569111 w 6756677"/>
              <a:gd name="connsiteY3" fmla="*/ 6315563 h 6319295"/>
              <a:gd name="connsiteX4" fmla="*/ 0 w 6756677"/>
              <a:gd name="connsiteY4" fmla="*/ 501650 h 6319295"/>
              <a:gd name="connsiteX0" fmla="*/ 0 w 6763027"/>
              <a:gd name="connsiteY0" fmla="*/ 0 h 5817645"/>
              <a:gd name="connsiteX1" fmla="*/ 6763027 w 6763027"/>
              <a:gd name="connsiteY1" fmla="*/ 0 h 5817645"/>
              <a:gd name="connsiteX2" fmla="*/ 6756677 w 6763027"/>
              <a:gd name="connsiteY2" fmla="*/ 5817645 h 5817645"/>
              <a:gd name="connsiteX3" fmla="*/ 1569111 w 6763027"/>
              <a:gd name="connsiteY3" fmla="*/ 5813913 h 5817645"/>
              <a:gd name="connsiteX4" fmla="*/ 0 w 6763027"/>
              <a:gd name="connsiteY4" fmla="*/ 0 h 5817645"/>
              <a:gd name="connsiteX0" fmla="*/ 0 w 6763027"/>
              <a:gd name="connsiteY0" fmla="*/ 0 h 5817645"/>
              <a:gd name="connsiteX1" fmla="*/ 6763027 w 6763027"/>
              <a:gd name="connsiteY1" fmla="*/ 0 h 5817645"/>
              <a:gd name="connsiteX2" fmla="*/ 6756677 w 6763027"/>
              <a:gd name="connsiteY2" fmla="*/ 5817645 h 5817645"/>
              <a:gd name="connsiteX3" fmla="*/ 1572286 w 6763027"/>
              <a:gd name="connsiteY3" fmla="*/ 5817088 h 5817645"/>
              <a:gd name="connsiteX4" fmla="*/ 0 w 6763027"/>
              <a:gd name="connsiteY4" fmla="*/ 0 h 5817645"/>
              <a:gd name="connsiteX0" fmla="*/ 0 w 6772552"/>
              <a:gd name="connsiteY0" fmla="*/ 3175 h 5817645"/>
              <a:gd name="connsiteX1" fmla="*/ 6772552 w 6772552"/>
              <a:gd name="connsiteY1" fmla="*/ 0 h 5817645"/>
              <a:gd name="connsiteX2" fmla="*/ 6766202 w 6772552"/>
              <a:gd name="connsiteY2" fmla="*/ 5817645 h 5817645"/>
              <a:gd name="connsiteX3" fmla="*/ 1581811 w 6772552"/>
              <a:gd name="connsiteY3" fmla="*/ 5817088 h 5817645"/>
              <a:gd name="connsiteX4" fmla="*/ 0 w 6772552"/>
              <a:gd name="connsiteY4" fmla="*/ 3175 h 581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72552" h="5817645">
                <a:moveTo>
                  <a:pt x="0" y="3175"/>
                </a:moveTo>
                <a:lnTo>
                  <a:pt x="6772552" y="0"/>
                </a:lnTo>
                <a:cubicBezTo>
                  <a:pt x="6770435" y="1939215"/>
                  <a:pt x="6768319" y="3878430"/>
                  <a:pt x="6766202" y="5817645"/>
                </a:cubicBezTo>
                <a:lnTo>
                  <a:pt x="1581811" y="5817088"/>
                </a:lnTo>
                <a:lnTo>
                  <a:pt x="0" y="31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lIns="108000"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6116BC9-0E0C-4505-63BF-D2C274BDF6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3213" y="1647827"/>
            <a:ext cx="5016133" cy="4690083"/>
          </a:xfrm>
        </p:spPr>
        <p:txBody>
          <a:bodyPr/>
          <a:lstStyle>
            <a:lvl1pPr marL="517473" indent="-517473"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tabLst/>
              <a:defRPr sz="2000" b="0" i="0" cap="all" baseline="0">
                <a:latin typeface="Montserrat Medium" panose="02000505000000020004" pitchFamily="2" charset="77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BDEE2-B0BE-2E52-20CD-AF579DB6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831850"/>
            <a:ext cx="4779554" cy="684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2EC8D-6856-16D7-4DB0-E9496E066A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57529" y="381514"/>
            <a:ext cx="1675470" cy="60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3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56B8-35FC-4C56-8140-D42E38D4FA90}" type="datetime1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Document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55292-72D6-41B9-85AE-FA31A2F7279B}" type="slidenum">
              <a:rPr lang="en-GB" smtClean="0"/>
              <a:t>‹Nº›</a:t>
            </a:fld>
            <a:endParaRPr lang="en-GB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58489" y="6483265"/>
            <a:ext cx="913086" cy="198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08" indent="0">
              <a:buNone/>
              <a:defRPr sz="1400"/>
            </a:lvl2pPr>
            <a:lvl3pPr marL="914218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2" indent="0">
              <a:buNone/>
              <a:defRPr sz="1000"/>
            </a:lvl6pPr>
            <a:lvl7pPr marL="2742652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Security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298191" y="6485124"/>
            <a:ext cx="411480" cy="19800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900" b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08" indent="0">
              <a:buNone/>
              <a:defRPr sz="1400"/>
            </a:lvl2pPr>
            <a:lvl3pPr marL="914218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2" indent="0">
              <a:buNone/>
              <a:defRPr sz="1000"/>
            </a:lvl6pPr>
            <a:lvl7pPr marL="2742652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v. 1.0</a:t>
            </a:r>
          </a:p>
        </p:txBody>
      </p:sp>
    </p:spTree>
    <p:extLst>
      <p:ext uri="{BB962C8B-B14F-4D97-AF65-F5344CB8AC3E}">
        <p14:creationId xmlns:p14="http://schemas.microsoft.com/office/powerpoint/2010/main" val="422246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0863" y="502444"/>
            <a:ext cx="11090276" cy="109543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0863" y="1602000"/>
            <a:ext cx="11090275" cy="4044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20389" y="6500020"/>
            <a:ext cx="683418" cy="1412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F8E26-DB4C-49B1-BF43-8AA681EF38E8}" type="datetime1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3200" y="6500020"/>
            <a:ext cx="4483100" cy="1412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tx2"/>
                </a:solidFill>
              </a:defRPr>
            </a:lvl1pPr>
          </a:lstStyle>
          <a:p>
            <a:r>
              <a:rPr lang="en-GB"/>
              <a:t>Document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3806" y="6500020"/>
            <a:ext cx="237331" cy="1412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tx2"/>
                </a:solidFill>
              </a:defRPr>
            </a:lvl1pPr>
          </a:lstStyle>
          <a:p>
            <a:fld id="{6DD55292-72D6-41B9-85AE-FA31A2F7279B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1" y="5940000"/>
            <a:ext cx="11087945" cy="3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6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0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09" rtl="0" eaLnBrk="1" latinLnBrk="0" hangingPunct="1">
        <a:lnSpc>
          <a:spcPct val="90000"/>
        </a:lnSpc>
        <a:spcBef>
          <a:spcPts val="1000"/>
        </a:spcBef>
        <a:buClr>
          <a:srgbClr val="CC0000"/>
        </a:buClr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177782" indent="-177782" algn="l" defTabSz="914309" rtl="0" eaLnBrk="1" latinLnBrk="0" hangingPunct="1">
        <a:lnSpc>
          <a:spcPct val="90000"/>
        </a:lnSpc>
        <a:spcBef>
          <a:spcPts val="500"/>
        </a:spcBef>
        <a:buClr>
          <a:srgbClr val="CC0000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355564" indent="-177782" algn="l" defTabSz="914309" rtl="0" eaLnBrk="1" latinLnBrk="0" hangingPunct="1">
        <a:lnSpc>
          <a:spcPct val="90000"/>
        </a:lnSpc>
        <a:spcBef>
          <a:spcPts val="500"/>
        </a:spcBef>
        <a:buClr>
          <a:srgbClr val="CC0000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533347" indent="-177782" algn="l" defTabSz="914309" rtl="0" eaLnBrk="1" latinLnBrk="0" hangingPunct="1">
        <a:lnSpc>
          <a:spcPct val="90000"/>
        </a:lnSpc>
        <a:spcBef>
          <a:spcPts val="500"/>
        </a:spcBef>
        <a:buClr>
          <a:srgbClr val="CC0000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723828" indent="-190481" algn="l" defTabSz="914309" rtl="0" eaLnBrk="1" latinLnBrk="0" hangingPunct="1">
        <a:lnSpc>
          <a:spcPct val="90000"/>
        </a:lnSpc>
        <a:spcBef>
          <a:spcPts val="500"/>
        </a:spcBef>
        <a:buClr>
          <a:srgbClr val="CC0000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orient="horz" pos="3407">
          <p15:clr>
            <a:srgbClr val="F26B43"/>
          </p15:clr>
        </p15:guide>
        <p15:guide id="6" orient="horz" pos="336">
          <p15:clr>
            <a:srgbClr val="F26B43"/>
          </p15:clr>
        </p15:guide>
        <p15:guide id="7" orient="horz" pos="4169">
          <p15:clr>
            <a:srgbClr val="F26B43"/>
          </p15:clr>
        </p15:guide>
        <p15:guide id="8" orient="horz" pos="3557">
          <p15:clr>
            <a:srgbClr val="F26B43"/>
          </p15:clr>
        </p15:guide>
        <p15:guide id="9" orient="horz" pos="738">
          <p15:clr>
            <a:srgbClr val="F26B43"/>
          </p15:clr>
        </p15:guide>
        <p15:guide id="10" pos="2706">
          <p15:clr>
            <a:srgbClr val="F26B43"/>
          </p15:clr>
        </p15:guide>
        <p15:guide id="11" pos="4974">
          <p15:clr>
            <a:srgbClr val="F26B43"/>
          </p15:clr>
        </p15:guide>
        <p15:guide id="12" pos="3274">
          <p15:clr>
            <a:srgbClr val="F26B43"/>
          </p15:clr>
        </p15:guide>
        <p15:guide id="13" pos="44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621200" y="1314605"/>
            <a:ext cx="49956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0" i="0" u="none" strike="noStrike" cap="none" dirty="0" err="1">
                <a:solidFill>
                  <a:srgbClr val="0F274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Licenciamiento</a:t>
            </a:r>
            <a:r>
              <a:rPr lang="en-US" sz="4350" b="0" i="0" u="none" strike="noStrike" cap="none" dirty="0">
                <a:solidFill>
                  <a:srgbClr val="0F274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4350" b="0" i="0" u="none" strike="noStrike" cap="none" dirty="0">
                <a:solidFill>
                  <a:srgbClr val="C810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Therefore</a:t>
            </a:r>
            <a:r>
              <a:rPr lang="en-US" sz="4350" i="0" u="none" strike="noStrike" cap="none" dirty="0">
                <a:solidFill>
                  <a:srgbClr val="C810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™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21200" y="2892996"/>
            <a:ext cx="7810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Manual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estructurado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modelos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despliegue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licencias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usuario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conectores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avanzados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módulos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Inteligencia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Artificial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14"/>
          <p:cNvGraphicFramePr/>
          <p:nvPr>
            <p:extLst>
              <p:ext uri="{D42A27DB-BD31-4B8C-83A1-F6EECF244321}">
                <p14:modId xmlns:p14="http://schemas.microsoft.com/office/powerpoint/2010/main" val="2781463182"/>
              </p:ext>
            </p:extLst>
          </p:nvPr>
        </p:nvGraphicFramePr>
        <p:xfrm>
          <a:off x="571500" y="2164556"/>
          <a:ext cx="11029950" cy="3176550"/>
        </p:xfrm>
        <a:graphic>
          <a:graphicData uri="http://schemas.openxmlformats.org/drawingml/2006/table">
            <a:tbl>
              <a:tblPr firstRow="1" bandRow="1">
                <a:noFill/>
                <a:tableStyleId>{E7F47B6E-0130-4E15-AD81-BB2294A32211}</a:tableStyleId>
              </a:tblPr>
              <a:tblGrid>
                <a:gridCol w="20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FFFFFF"/>
                          </a:solidFill>
                          <a:latin typeface="Montserrat" pitchFamily="2" charset="0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Criterio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FFFFF"/>
                          </a:solidFill>
                          <a:latin typeface="Montserrat" pitchFamily="2" charset="0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Therefore On-Premise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FFFFF"/>
                          </a:solidFill>
                          <a:latin typeface="Montserrat" pitchFamily="2" charset="0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Therefore Subscription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Montserrat" pitchFamily="2" charset="0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Therefore Online (Cloud)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Modelo Financiero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0070C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(</a:t>
                      </a:r>
                      <a:r>
                        <a:rPr lang="en-US" sz="1125" b="1" i="0" u="none" strike="noStrike" cap="none" dirty="0" err="1">
                          <a:solidFill>
                            <a:srgbClr val="0070C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CapEx</a:t>
                      </a:r>
                      <a:r>
                        <a:rPr lang="en-US" sz="1125" b="1" i="0" u="none" strike="noStrike" cap="none" dirty="0">
                          <a:solidFill>
                            <a:srgbClr val="0070C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r>
                        <a:rPr lang="en-US" sz="1125" b="0" i="0" u="none" strike="noStrike" cap="none" dirty="0">
                          <a:solidFill>
                            <a:srgbClr val="0070C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Compra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perpetua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(</a:t>
                      </a:r>
                      <a:r>
                        <a:rPr lang="en-US" sz="1125" b="1" i="0" u="none" strike="noStrike" cap="none" dirty="0" err="1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OpEx</a:t>
                      </a:r>
                      <a:r>
                        <a:rPr lang="en-US" sz="1125" b="1" i="0" u="none" strike="noStrike" cap="none" dirty="0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Cuota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mensual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recurrente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(</a:t>
                      </a:r>
                      <a:r>
                        <a:rPr lang="en-US" sz="1125" b="1" i="0" u="none" strike="noStrike" cap="none" dirty="0" err="1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OpEx</a:t>
                      </a:r>
                      <a:r>
                        <a:rPr lang="en-US" sz="1125" b="1" i="0" u="none" strike="noStrike" cap="none" dirty="0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SaaS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cuota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mensual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Infraestructura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Servidores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propios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del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cliente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Servidores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propios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del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cliente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Nube Microsoft Azure (Canon)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Licencia de Servidor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 err="1">
                          <a:solidFill>
                            <a:srgbClr val="C0000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Obligatoria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en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oferta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 err="1">
                          <a:solidFill>
                            <a:srgbClr val="C0000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Obligatoria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en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oferta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 err="1">
                          <a:solidFill>
                            <a:srgbClr val="00B050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Incluida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(No se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cotiza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Almacenamiento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Aportado por el cliente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Aportado por el cliente</a:t>
                      </a:r>
                      <a:endParaRPr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Incluido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(10 GB /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usuario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Mantenimiento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Cuota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Anual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Cuota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mensual</a:t>
                      </a:r>
                      <a:endParaRPr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Cuota</a:t>
                      </a: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rgbClr val="475569"/>
                          </a:solidFill>
                          <a:latin typeface="Montserrat" pitchFamily="2" charset="0"/>
                          <a:ea typeface="Inter"/>
                          <a:cs typeface="Inter"/>
                          <a:sym typeface="Inter"/>
                        </a:rPr>
                        <a:t>mensual</a:t>
                      </a:r>
                      <a:endParaRPr lang="en-US" sz="1200" dirty="0">
                        <a:latin typeface="Montserrat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4" name="Google Shape;94;p14"/>
          <p:cNvSpPr/>
          <p:nvPr/>
        </p:nvSpPr>
        <p:spPr>
          <a:xfrm>
            <a:off x="581025" y="3278981"/>
            <a:ext cx="20908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2671911" y="3278981"/>
            <a:ext cx="2865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537150" y="3278981"/>
            <a:ext cx="3230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767464" y="3278981"/>
            <a:ext cx="28435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81025" y="3769518"/>
            <a:ext cx="20908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671911" y="3769518"/>
            <a:ext cx="2865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537150" y="3769518"/>
            <a:ext cx="3230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767464" y="3769518"/>
            <a:ext cx="28435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81025" y="4350543"/>
            <a:ext cx="20908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671911" y="4350543"/>
            <a:ext cx="2865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537150" y="4350543"/>
            <a:ext cx="3230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767464" y="4350543"/>
            <a:ext cx="28435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81025" y="4841081"/>
            <a:ext cx="20908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671911" y="4841081"/>
            <a:ext cx="2865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537150" y="4841081"/>
            <a:ext cx="3230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8767464" y="4841081"/>
            <a:ext cx="28435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Modelos</a:t>
            </a:r>
            <a:r>
              <a:rPr lang="en-US" sz="25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25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Licenciamiento</a:t>
            </a:r>
            <a:endParaRPr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23950"/>
            <a:ext cx="3530649" cy="351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0749" y="1123950"/>
            <a:ext cx="3530649" cy="351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9999" y="1123950"/>
            <a:ext cx="3530649" cy="351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4001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09625" y="2085975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Concurrente</a:t>
            </a:r>
            <a:r>
              <a:rPr lang="en-US" sz="150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50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Flotante</a:t>
            </a:r>
            <a:r>
              <a:rPr lang="en-US" sz="150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)</a:t>
            </a:r>
            <a:endParaRPr dirty="0">
              <a:latin typeface="Montserrat" pitchFamily="2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09625" y="2438400"/>
            <a:ext cx="30543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Licencia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asignada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a un pool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compartido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acceso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dinámico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8874" y="14001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568874" y="2085975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Nominal (Dedicada)</a:t>
            </a:r>
            <a:endParaRPr>
              <a:latin typeface="Montserrat" pitchFamily="2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568874" y="2438400"/>
            <a:ext cx="30543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Licencia asignada a una persona específica con acceso garantizado.</a:t>
            </a:r>
            <a:endParaRPr>
              <a:latin typeface="Montserrat" pitchFamily="2" charset="0"/>
            </a:endParaRPr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8124" y="14001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328124" y="2085975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Solo Lectura (Read-Only)</a:t>
            </a:r>
            <a:endParaRPr>
              <a:latin typeface="Montserrat" pitchFamily="2" charset="0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328124" y="2438400"/>
            <a:ext cx="30543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Licencia de consulta gestionada por grupo para acceso básico.</a:t>
            </a:r>
            <a:endParaRPr>
              <a:latin typeface="Montserrat" pitchFamily="2" charset="0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90600" y="2933700"/>
            <a:ext cx="287342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Acceso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funcional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completo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(workflows,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subida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indexación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).</a:t>
            </a:r>
            <a:endParaRPr dirty="0">
              <a:latin typeface="Montserrat" pitchFamily="2" charset="0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90600" y="3381375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Se libera al cerrar sesión para otro usuario.</a:t>
            </a:r>
            <a:endParaRPr>
              <a:latin typeface="Montserrat" pitchFamily="2" charset="0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990600" y="3643312"/>
            <a:ext cx="287342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Ideal para turnos rotativos o consultas esporádicas.</a:t>
            </a:r>
            <a:endParaRPr>
              <a:latin typeface="Montserrat" pitchFamily="2" charset="0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4749849" y="2933700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Acceso funcional completo e ininterrumpido.</a:t>
            </a:r>
            <a:endParaRPr>
              <a:latin typeface="Montserrat" pitchFamily="2" charset="0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749849" y="3195637"/>
            <a:ext cx="287342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Diseñada para usuarios clave (RRHH, Contabilidad, Dirección).</a:t>
            </a:r>
            <a:endParaRPr>
              <a:latin typeface="Montserrat" pitchFamily="2" charset="0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4749849" y="3643312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Máxima disponibilidad sin depender del pool.</a:t>
            </a:r>
            <a:endParaRPr>
              <a:latin typeface="Montserrat" pitchFamily="2" charset="0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509099" y="2933700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Permite buscar y descargar documentos.</a:t>
            </a:r>
            <a:endParaRPr>
              <a:latin typeface="Montserrat" pitchFamily="2" charset="0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8490049" y="3195637"/>
            <a:ext cx="289247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Sin acceso a tareas de workflow ni subida.</a:t>
            </a:r>
            <a:endParaRPr>
              <a:latin typeface="Montserrat" pitchFamily="2" charset="0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490049" y="3457575"/>
            <a:ext cx="289247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No añade almacenamiento en Therefore Online.</a:t>
            </a:r>
            <a:endParaRPr>
              <a:latin typeface="Montserrat" pitchFamily="2" charset="0"/>
            </a:endParaRPr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29670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41471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6766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8874" y="29670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8874" y="322897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8874" y="36766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9670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8124" y="3228975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8124" y="3490912"/>
            <a:ext cx="857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Tipos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de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Licencias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de Usuario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B53F5B-AE70-6725-F42A-CAE678F7134D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6579" y="1512671"/>
            <a:ext cx="348431" cy="2742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C15841A-79BB-A051-7BDC-23E649888B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6744" y="5508521"/>
            <a:ext cx="368409" cy="28997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E2C1A98-B044-7BC2-DFD5-9FF1AC950C5D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65804" y="1499131"/>
            <a:ext cx="352716" cy="27762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A48A4BF-1CA0-E74F-A014-3A81096D517B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4967" y="1512671"/>
            <a:ext cx="321613" cy="283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30" grpId="0"/>
      <p:bldP spid="132" grpId="0"/>
      <p:bldP spid="133" grpId="0"/>
      <p:bldP spid="139" grpId="0"/>
      <p:bldP spid="140" grpId="0"/>
      <p:bldP spid="141" grpId="0"/>
      <p:bldP spid="143" grpId="0"/>
      <p:bldP spid="144" grpId="0"/>
      <p:bldP spid="1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05731"/>
            <a:ext cx="5334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5731"/>
            <a:ext cx="5334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248781"/>
            <a:ext cx="47434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020181"/>
            <a:ext cx="474345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219200" y="2007398"/>
            <a:ext cx="461057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Escalado</a:t>
            </a:r>
            <a:r>
              <a:rPr lang="en-US" sz="16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6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Tramos</a:t>
            </a:r>
            <a:endParaRPr dirty="0">
              <a:latin typeface="Montserrat" pitchFamily="2" charset="0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866775" y="2420106"/>
            <a:ext cx="4743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entornos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On-Premise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y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Subscription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, las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licencias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se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adquieren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por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tramos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volumen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para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optimizar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coste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unitario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:</a:t>
            </a:r>
            <a:endParaRPr dirty="0">
              <a:latin typeface="Montserrat" pitchFamily="2" charset="0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962775" y="2007398"/>
            <a:ext cx="458057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Reglas Therefore Online</a:t>
            </a:r>
            <a:endParaRPr>
              <a:latin typeface="Montserrat" pitchFamily="2" charset="0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581775" y="2420106"/>
            <a:ext cx="4743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La modalidad SaaS en Azure cuenta con condiciones comerciales simplificadas para ofertas ágiles:</a:t>
            </a:r>
            <a:endParaRPr>
              <a:latin typeface="Montserrat" pitchFamily="2" charset="0"/>
            </a:endParaRPr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029581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1028700" y="3372606"/>
            <a:ext cx="44196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Tramo 1: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1 a 9 usuarios</a:t>
            </a:r>
            <a:endParaRPr>
              <a:latin typeface="Montserrat" pitchFamily="2" charset="0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028700" y="3615494"/>
            <a:ext cx="44196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Tramo 2: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10 a 24 usuarios</a:t>
            </a:r>
            <a:endParaRPr>
              <a:latin typeface="Montserrat" pitchFamily="2" charset="0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028700" y="3858381"/>
            <a:ext cx="44196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Tramo 3: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25 a 49 usuarios</a:t>
            </a:r>
            <a:endParaRPr>
              <a:latin typeface="Montserrat" pitchFamily="2" charset="0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1028700" y="4101269"/>
            <a:ext cx="44196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Tramo 4+: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50 a 99 y +100 usuarios</a:t>
            </a:r>
            <a:endParaRPr>
              <a:latin typeface="Montserrat" pitchFamily="2" charset="0"/>
            </a:endParaRPr>
          </a:p>
        </p:txBody>
      </p:sp>
      <p:pic>
        <p:nvPicPr>
          <p:cNvPr id="174" name="Google Shape;17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02958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6743700" y="3144006"/>
            <a:ext cx="44196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Mínimo de arranque: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2 usuarios completos (2 Nominales, 2 Concurrentes o 1+1).</a:t>
            </a:r>
            <a:endParaRPr>
              <a:latin typeface="Montserrat" pitchFamily="2" charset="0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6743700" y="3572631"/>
            <a:ext cx="44196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Tramo comercial: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Tramo estándar unificado de 0 a 99 usuarios.</a:t>
            </a:r>
            <a:endParaRPr>
              <a:latin typeface="Montserrat" pitchFamily="2" charset="0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743700" y="3815519"/>
            <a:ext cx="44196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Flexibilidad: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Escalado ágil de usuarios mes a mes.</a:t>
            </a:r>
            <a:endParaRPr>
              <a:latin typeface="Montserrat" pitchFamily="2" charset="0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Tramos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y Reglas de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Usuarios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  <p:bldP spid="168" grpId="0"/>
      <p:bldP spid="175" grpId="0"/>
      <p:bldP spid="176" grpId="0"/>
      <p:bldP spid="1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317" y="1865208"/>
            <a:ext cx="34290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7317" y="2796276"/>
            <a:ext cx="7239000" cy="79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7317" y="3674958"/>
            <a:ext cx="7239000" cy="64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1275504" y="1904826"/>
            <a:ext cx="21145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Montserrat" pitchFamily="2" charset="0"/>
                <a:ea typeface="Plus Jakarta Sans ExtraBold"/>
                <a:cs typeface="Plus Jakarta Sans ExtraBold"/>
                <a:sym typeface="Plus Jakarta Sans ExtraBold"/>
              </a:rPr>
              <a:t>10 GB</a:t>
            </a:r>
            <a:endParaRPr dirty="0">
              <a:latin typeface="Montserrat" pitchFamily="2" charset="0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99191" y="2590374"/>
            <a:ext cx="1952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3C5FD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POR LICENCIA COMPLETA</a:t>
            </a:r>
            <a:endParaRPr dirty="0">
              <a:latin typeface="Montserrat" pitchFamily="2" charset="0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347317" y="1624701"/>
            <a:ext cx="7600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Bolsa Compartida de Espacio</a:t>
            </a:r>
            <a:endParaRPr>
              <a:latin typeface="Montserrat" pitchFamily="2" charset="0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347317" y="2024751"/>
            <a:ext cx="723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En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Therefore Online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cada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usuario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nominal 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concurrente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añade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automáticamente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10 GB a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fondo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común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corporativo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 Los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usuarios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solo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lectura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sng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no </a:t>
            </a:r>
            <a:r>
              <a:rPr lang="en-US" sz="1200" b="0" i="0" u="sng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aportan</a:t>
            </a:r>
            <a:r>
              <a:rPr lang="en-US" sz="1200" b="0" i="0" u="sng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almacenamiento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547342" y="3007842"/>
            <a:ext cx="11620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Inter"/>
                <a:cs typeface="Inter"/>
                <a:sym typeface="Inter"/>
              </a:rPr>
              <a:t>Ejemplo</a:t>
            </a:r>
            <a:r>
              <a:rPr lang="en-US" sz="1050" b="1" i="0" u="none" strike="noStrike" cap="none" dirty="0">
                <a:solidFill>
                  <a:srgbClr val="0F2744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Bolsa:</a:t>
            </a:r>
            <a:endParaRPr dirty="0">
              <a:latin typeface="Montserrat" pitchFamily="2" charset="0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709392" y="2927051"/>
            <a:ext cx="55340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5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usuarios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nominales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(50 GB) + 2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concurrentes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(20 GB) = </a:t>
            </a:r>
            <a:r>
              <a:rPr lang="en-US" sz="1050" b="1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70 GB </a:t>
            </a:r>
            <a:r>
              <a:rPr lang="en-US" sz="1050" b="1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totales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para la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empresa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537817" y="3817833"/>
            <a:ext cx="4401084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Packs de </a:t>
            </a:r>
            <a:r>
              <a:rPr lang="en-US" sz="975" b="1" i="0" u="none" strike="noStrike" cap="none" dirty="0" err="1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Ampliación</a:t>
            </a:r>
            <a:r>
              <a:rPr lang="en-US" sz="975" b="1" i="0" u="none" strike="noStrike" cap="none" dirty="0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975" b="1" i="0" u="none" strike="noStrike" cap="none" dirty="0" err="1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Almacenamiento</a:t>
            </a:r>
            <a:r>
              <a:rPr lang="en-US" sz="975" b="1" i="0" u="none" strike="noStrike" cap="none" dirty="0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 (</a:t>
            </a:r>
            <a:r>
              <a:rPr lang="en-US" sz="975" b="1" i="0" u="none" strike="noStrike" cap="none" dirty="0" err="1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Cuota</a:t>
            </a:r>
            <a:r>
              <a:rPr lang="en-US" sz="975" b="1" i="0" u="none" strike="noStrike" cap="none" dirty="0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1" i="0" u="none" strike="noStrike" cap="none" dirty="0" err="1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Mensual</a:t>
            </a:r>
            <a:r>
              <a:rPr lang="en-US" sz="975" b="1" i="0" u="none" strike="noStrike" cap="none" dirty="0">
                <a:solidFill>
                  <a:srgbClr val="0369A1"/>
                </a:solidFill>
                <a:latin typeface="Montserrat" pitchFamily="2" charset="0"/>
                <a:ea typeface="Inter"/>
                <a:cs typeface="Inter"/>
                <a:sym typeface="Inter"/>
              </a:rPr>
              <a:t>):</a:t>
            </a:r>
            <a:endParaRPr dirty="0">
              <a:latin typeface="Montserrat" pitchFamily="2" charset="0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4537817" y="4017858"/>
            <a:ext cx="68961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Disponibles en tramos de </a:t>
            </a:r>
            <a:r>
              <a:rPr lang="en-US" sz="975" b="1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10 GB</a:t>
            </a:r>
            <a:r>
              <a:rPr lang="en-US" sz="975" b="0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, </a:t>
            </a:r>
            <a:r>
              <a:rPr lang="en-US" sz="975" b="1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100 GB</a:t>
            </a:r>
            <a:r>
              <a:rPr lang="en-US" sz="975" b="0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 y </a:t>
            </a:r>
            <a:r>
              <a:rPr lang="en-US" sz="975" b="1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1 TB</a:t>
            </a:r>
            <a:r>
              <a:rPr lang="en-US" sz="975" b="0" i="0" u="none" strike="noStrike" cap="none">
                <a:solidFill>
                  <a:srgbClr val="1E40AF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>
              <a:latin typeface="Montserrat" pitchFamily="2" charset="0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Almacenamiento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Cloud en Azure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1;p16" descr="image.png">
            <a:extLst>
              <a:ext uri="{FF2B5EF4-FFF2-40B4-BE49-F238E27FC236}">
                <a16:creationId xmlns:a16="http://schemas.microsoft.com/office/drawing/2014/main" id="{F5E8F445-BAA9-4327-91E7-BD904FA2AD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9" y="1158800"/>
            <a:ext cx="11093509" cy="43524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4B0A3E3-2223-A3BD-A90B-3EF08B761DEF}"/>
              </a:ext>
            </a:extLst>
          </p:cNvPr>
          <p:cNvSpPr txBox="1"/>
          <p:nvPr/>
        </p:nvSpPr>
        <p:spPr>
          <a:xfrm>
            <a:off x="988819" y="1346769"/>
            <a:ext cx="102143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b="1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Monitorización proactiva y optimización continua de almacenamiento</a:t>
            </a:r>
            <a:endParaRPr lang="es-ES" sz="1400" i="1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Con el fin de garantizar la continuidad de negocio de nuestros clientes y proteger su rentabilidad: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s-ES" sz="1400" b="1" i="1" dirty="0"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Continuidad de servicio sin interrupciones:</a:t>
            </a:r>
            <a:endParaRPr lang="es-ES" sz="1400" i="1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Canon monitoriza mensualmente el uso de almacenamiento de Therefore Online. Si un cliente va a alcanzar  su límite contratado, se añadirá capacidad adicional en el </a:t>
            </a:r>
            <a:r>
              <a:rPr lang="es-ES" sz="1400" i="1" dirty="0" err="1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tenant</a:t>
            </a: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para evitar cualquier bloqueo o degradación del servicio.</a:t>
            </a:r>
          </a:p>
          <a:p>
            <a:pPr>
              <a:buNone/>
            </a:pPr>
            <a:endParaRPr lang="es-ES" b="1" i="1" dirty="0"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b="1" i="1" dirty="0"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2. Asignación y migración a la tarifa más ventajosa:</a:t>
            </a:r>
          </a:p>
          <a:p>
            <a:pPr>
              <a:buNone/>
            </a:pPr>
            <a:endParaRPr lang="es-ES" sz="1400" i="1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Para no penalizar al cliente con costes innecesarios por exceso, la capacidad adicional se gestionará en paquetes de </a:t>
            </a:r>
            <a:r>
              <a:rPr lang="es-ES" sz="1400" b="1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10 GB, 100 GB o 1 TB</a:t>
            </a: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, asignando siempre la franja de precio por GB más económica para su volumen real: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400" b="1" i="1" dirty="0">
                <a:effectLst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Ejemplo práctico:</a:t>
            </a:r>
            <a:r>
              <a:rPr lang="es-ES" sz="1400" i="1" dirty="0">
                <a:effectLst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 Si un cliente experimenta un crecimiento continuado y va acumulando paquetes de 10 GB, al alcanzar el cuarto paquete (40 GB adicionales) se consolidará automáticamente en el nivel de </a:t>
            </a:r>
            <a:r>
              <a:rPr lang="es-ES" sz="1400" b="1" i="1" dirty="0">
                <a:effectLst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100 GB</a:t>
            </a:r>
            <a:r>
              <a:rPr lang="es-ES" sz="1400" i="1" dirty="0">
                <a:effectLst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, ya que esta banda ofrece un coste por GB significativamente más competitivo que mantener cuatro bloques individuales de 10 GB.</a:t>
            </a:r>
            <a:endParaRPr lang="es-ES" sz="1400" i="1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Esta monitorización mensual nos permite identificar patrones de crecimiento consolidados y regularizar contractualmente el almacenamiento como volumen comprometido, asegurando así previsibilidad en la facturación y la tarifa más ventajosa a largo plazo.</a:t>
            </a:r>
          </a:p>
          <a:p>
            <a:pPr>
              <a:buNone/>
            </a:pPr>
            <a:r>
              <a:rPr lang="es-ES" sz="1400" i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s-ES" sz="1200" i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5" name="Google Shape;195;p17">
            <a:extLst>
              <a:ext uri="{FF2B5EF4-FFF2-40B4-BE49-F238E27FC236}">
                <a16:creationId xmlns:a16="http://schemas.microsoft.com/office/drawing/2014/main" id="{48BC1DB9-64D4-2245-1173-6F69FBB93CE8}"/>
              </a:ext>
            </a:extLst>
          </p:cNvPr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A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añadir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en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todas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las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ofertas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comerciales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de Therefore online 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01279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7049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571500" y="1704975"/>
            <a:ext cx="56007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La "Navaja Suiza" de la Ingesta</a:t>
            </a:r>
            <a:endParaRPr dirty="0">
              <a:latin typeface="Montserrat" pitchFamily="2" charset="0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571500" y="2085975"/>
            <a:ext cx="5334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Módulo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indispensable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presente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en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prácticamente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cualquier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oferta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Therefore (On-Premise,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Suscripción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u Online) para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automatizar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la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captura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información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025" y="1714500"/>
            <a:ext cx="5314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232" y="497586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88989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399479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1097757" y="4956817"/>
            <a:ext cx="4750593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Firmas Digitales de Terceros</a:t>
            </a:r>
            <a:endParaRPr>
              <a:latin typeface="Montserrat" pitchFamily="2" charset="0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1097757" y="5204467"/>
            <a:ext cx="45243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Descarga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y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archivo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automático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documentos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desde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plataformas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firma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electrónica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123950" y="2870842"/>
            <a:ext cx="480060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Monitorización</a:t>
            </a:r>
            <a:r>
              <a:rPr lang="en-US" sz="1275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de Emails y </a:t>
            </a:r>
            <a:r>
              <a:rPr lang="en-US" sz="1275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Carpetas</a:t>
            </a:r>
            <a:endParaRPr dirty="0">
              <a:latin typeface="Montserrat" pitchFamily="2" charset="0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1123950" y="3118492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Importación desatendida desde buzones de correo y carpetas de red compartidas.</a:t>
            </a:r>
            <a:endParaRPr>
              <a:latin typeface="Montserrat" pitchFamily="2" charset="0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123950" y="3975742"/>
            <a:ext cx="480060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OCR Zonal, Códigos de Barras y TXT</a:t>
            </a:r>
            <a:endParaRPr>
              <a:latin typeface="Montserrat" pitchFamily="2" charset="0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123950" y="4223392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Extracción de metadatos e indexación automática de ficheros electrónicos y texto.</a:t>
            </a:r>
            <a:endParaRPr>
              <a:latin typeface="Montserrat" pitchFamily="2" charset="0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Therefore™ Content Connector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9F78493B-81B7-4D0E-6900-49AF7F58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>
            <a:extLst>
              <a:ext uri="{FF2B5EF4-FFF2-40B4-BE49-F238E27FC236}">
                <a16:creationId xmlns:a16="http://schemas.microsoft.com/office/drawing/2014/main" id="{62322C26-30F6-10ED-F6AF-0CD7F645BB25}"/>
              </a:ext>
            </a:extLst>
          </p:cNvPr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Therefore™ </a:t>
            </a:r>
            <a:r>
              <a:rPr lang="es-ES" sz="2550" b="1" dirty="0">
                <a:solidFill>
                  <a:srgbClr val="0F2744"/>
                </a:solidFill>
                <a:latin typeface="Montserrat" pitchFamily="2" charset="0"/>
                <a:cs typeface="Plus Jakarta Sans"/>
              </a:rPr>
              <a:t>Universal </a:t>
            </a:r>
            <a:r>
              <a:rPr lang="es-E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</a:rPr>
              <a:t>Connector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824D08-2DF9-9B77-60FF-E7C2FB8FF545}"/>
              </a:ext>
            </a:extLst>
          </p:cNvPr>
          <p:cNvSpPr txBox="1"/>
          <p:nvPr/>
        </p:nvSpPr>
        <p:spPr>
          <a:xfrm>
            <a:off x="489204" y="1005251"/>
            <a:ext cx="72447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latin typeface="Montserrat" pitchFamily="2" charset="0"/>
              </a:rPr>
              <a:t>¿Cómo funciona?</a:t>
            </a:r>
          </a:p>
          <a:p>
            <a:pPr>
              <a:buNone/>
            </a:pPr>
            <a:endParaRPr lang="es-ES" dirty="0">
              <a:latin typeface="Montserrat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dirty="0">
                <a:latin typeface="Montserrat" pitchFamily="2" charset="0"/>
              </a:rPr>
              <a:t>Se instala una aplicación cliente ligera en el PC Windows del usuario.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dirty="0">
                <a:latin typeface="Montserrat" pitchFamily="2" charset="0"/>
              </a:rPr>
              <a:t>Mapea visualmente los campos de cualquier aplicación Windows, web o ERP de terceros que </a:t>
            </a:r>
            <a:r>
              <a:rPr lang="es-ES" dirty="0" err="1">
                <a:latin typeface="Montserrat" pitchFamily="2" charset="0"/>
              </a:rPr>
              <a:t>sopoten</a:t>
            </a:r>
            <a:r>
              <a:rPr lang="es-ES" dirty="0">
                <a:latin typeface="Montserrat" pitchFamily="2" charset="0"/>
              </a:rPr>
              <a:t> copiar-pegar en un campo.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dirty="0">
                <a:latin typeface="Montserrat" pitchFamily="2" charset="0"/>
              </a:rPr>
              <a:t>Se activa al instante mediante una combinación de teclas (</a:t>
            </a:r>
            <a:r>
              <a:rPr lang="es-ES" i="1" dirty="0" err="1">
                <a:latin typeface="Montserrat" pitchFamily="2" charset="0"/>
              </a:rPr>
              <a:t>Hotkey</a:t>
            </a:r>
            <a:r>
              <a:rPr lang="es-ES" dirty="0">
                <a:latin typeface="Montserrat" pitchFamily="2" charset="0"/>
              </a:rPr>
              <a:t>, ej. F10).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ED8173-4F90-8119-7248-841C6043E668}"/>
              </a:ext>
            </a:extLst>
          </p:cNvPr>
          <p:cNvSpPr txBox="1"/>
          <p:nvPr/>
        </p:nvSpPr>
        <p:spPr>
          <a:xfrm>
            <a:off x="574929" y="2651873"/>
            <a:ext cx="629589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latin typeface="Montserrat" pitchFamily="2" charset="0"/>
              </a:rPr>
              <a:t>Funcionalidades Clave:</a:t>
            </a:r>
          </a:p>
          <a:p>
            <a:pPr>
              <a:buNone/>
            </a:pPr>
            <a:endParaRPr lang="es-ES" dirty="0">
              <a:latin typeface="Montserrat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Montserrat" pitchFamily="2" charset="0"/>
              </a:rPr>
              <a:t>Búsqueda Instantánea:</a:t>
            </a:r>
            <a:r>
              <a:rPr lang="es-ES" dirty="0">
                <a:latin typeface="Montserrat" pitchFamily="2" charset="0"/>
              </a:rPr>
              <a:t> Selecciona un dato en pantalla (DNI, </a:t>
            </a:r>
            <a:r>
              <a:rPr lang="es-ES" dirty="0" err="1">
                <a:latin typeface="Montserrat" pitchFamily="2" charset="0"/>
              </a:rPr>
              <a:t>Nº</a:t>
            </a:r>
            <a:r>
              <a:rPr lang="es-ES" dirty="0">
                <a:latin typeface="Montserrat" pitchFamily="2" charset="0"/>
              </a:rPr>
              <a:t> de Factura, Código de Cliente) y abre directamente el expediente en Therefore.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Montserrat" pitchFamily="2" charset="0"/>
              </a:rPr>
              <a:t>Archivado Directo:</a:t>
            </a:r>
            <a:r>
              <a:rPr lang="es-ES" dirty="0">
                <a:latin typeface="Montserrat" pitchFamily="2" charset="0"/>
              </a:rPr>
              <a:t> Guarda documentos en Therefore asociando automáticamente los metadatos visibles en pantalla sin teclear.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34E037-4B43-6C39-581E-200C947D0201}"/>
              </a:ext>
            </a:extLst>
          </p:cNvPr>
          <p:cNvSpPr txBox="1"/>
          <p:nvPr/>
        </p:nvSpPr>
        <p:spPr>
          <a:xfrm>
            <a:off x="571500" y="4592792"/>
            <a:ext cx="105018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latin typeface="Montserrat" pitchFamily="2" charset="0"/>
              </a:rPr>
              <a:t>Valor Comercial para el Cliente:</a:t>
            </a:r>
          </a:p>
          <a:p>
            <a:pPr>
              <a:buNone/>
            </a:pPr>
            <a:endParaRPr lang="es-ES" dirty="0">
              <a:latin typeface="Montserrat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Montserrat" pitchFamily="2" charset="0"/>
              </a:rPr>
              <a:t>Cero desarrollo:</a:t>
            </a:r>
            <a:r>
              <a:rPr lang="es-ES" dirty="0">
                <a:latin typeface="Montserrat" pitchFamily="2" charset="0"/>
              </a:rPr>
              <a:t> No requiere crear conectores a medida ni modificar el software existente.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i="1" dirty="0">
                <a:latin typeface="Montserrat" pitchFamily="2" charset="0"/>
              </a:rPr>
              <a:t>Ejemplo RRHH:</a:t>
            </a:r>
            <a:r>
              <a:rPr lang="es-ES" dirty="0">
                <a:latin typeface="Montserrat" pitchFamily="2" charset="0"/>
              </a:rPr>
              <a:t> En el software de nóminas, el usuario resalta el DNI, pulsa el atajo y se abre el expediente laboral en Therefore.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6EAF058-BE9B-BE2E-49B2-47E0BC688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708" y="2651873"/>
            <a:ext cx="4546363" cy="20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1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6293" y="1423053"/>
            <a:ext cx="3530649" cy="338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5543" y="1423053"/>
            <a:ext cx="3530649" cy="338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4418" y="1699278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2244418" y="2385078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Conectores</a:t>
            </a:r>
            <a:r>
              <a:rPr lang="en-US" sz="150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ERP</a:t>
            </a:r>
            <a:endParaRPr dirty="0">
              <a:latin typeface="Montserrat" pitchFamily="2" charset="0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2244418" y="2737503"/>
            <a:ext cx="30543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Integraciones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certificadas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bidireccionales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con las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plataformas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líderes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del mercado.</a:t>
            </a:r>
            <a:endParaRPr dirty="0">
              <a:latin typeface="Montserrat" pitchFamily="2" charset="0"/>
            </a:endParaRPr>
          </a:p>
        </p:txBody>
      </p:sp>
      <p:pic>
        <p:nvPicPr>
          <p:cNvPr id="229" name="Google Shape;22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03668" y="1699278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6003668" y="2329499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Factura </a:t>
            </a:r>
            <a:r>
              <a:rPr lang="en-US" sz="150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Electrónica</a:t>
            </a:r>
            <a:endParaRPr dirty="0">
              <a:latin typeface="Montserrat" pitchFamily="2" charset="0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108443" y="2557606"/>
            <a:ext cx="3054399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Conector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especializado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para el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procesamiento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normativas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fiscales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vigentes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pic>
        <p:nvPicPr>
          <p:cNvPr id="236" name="Google Shape;23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9193" y="183262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2425393" y="3232803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Microsoft Dynamics 365 / Business Central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>
              <a:latin typeface="Montserrat" pitchFamily="2" charset="0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2425393" y="3494740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SAP ERP &amp; S/4HANA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(ArchivLink).</a:t>
            </a:r>
            <a:endParaRPr>
              <a:latin typeface="Montserrat" pitchFamily="2" charset="0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2425393" y="3756678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Microsoft SharePoint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>
              <a:latin typeface="Montserrat" pitchFamily="2" charset="0"/>
            </a:endParaRPr>
          </a:p>
        </p:txBody>
      </p:sp>
      <p:pic>
        <p:nvPicPr>
          <p:cNvPr id="240" name="Google Shape;24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65593" y="1832628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6184643" y="3232803"/>
            <a:ext cx="287342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Importación y validación automática de XML/UBL.</a:t>
            </a:r>
            <a:endParaRPr>
              <a:latin typeface="Montserrat" pitchFamily="2" charset="0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184643" y="3680478"/>
            <a:ext cx="287342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Cumplimiento con estándares europeos y Facturae.</a:t>
            </a:r>
            <a:endParaRPr>
              <a:latin typeface="Montserrat" pitchFamily="2" charset="0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6184643" y="4128153"/>
            <a:ext cx="2873424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Extracción de metadatos sin OCR.</a:t>
            </a:r>
            <a:endParaRPr>
              <a:latin typeface="Montserrat" pitchFamily="2" charset="0"/>
            </a:endParaRPr>
          </a:p>
        </p:txBody>
      </p:sp>
      <p:pic>
        <p:nvPicPr>
          <p:cNvPr id="247" name="Google Shape;24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44418" y="326614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44418" y="3528078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44418" y="379001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03668" y="326614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03668" y="371381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03668" y="4161490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Conectores</a:t>
            </a:r>
            <a:r>
              <a:rPr lang="en-US" sz="25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25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Negocio</a:t>
            </a:r>
            <a:r>
              <a:rPr lang="en-US" sz="25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y ERP</a:t>
            </a:r>
            <a:endParaRPr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7918" y="1201529"/>
            <a:ext cx="5286375" cy="722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7918" y="2041198"/>
            <a:ext cx="5286375" cy="91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571500" y="476250"/>
            <a:ext cx="5550693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Portal Web</a:t>
            </a:r>
            <a:endParaRPr dirty="0">
              <a:latin typeface="Montserrat" pitchFamily="2" charset="0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571500" y="1201529"/>
            <a:ext cx="555069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Acceso</a:t>
            </a:r>
            <a:r>
              <a:rPr lang="en-US" sz="1650" b="1" i="0" u="none" strike="noStrike" cap="none" dirty="0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650" b="1" i="0" u="none" strike="noStrike" cap="none" dirty="0" err="1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Ilimitado</a:t>
            </a:r>
            <a:endParaRPr dirty="0">
              <a:latin typeface="Montserrat" pitchFamily="2" charset="0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621707" y="1652738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Módulo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portal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seguro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diseñado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para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permitir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que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clientes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,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proveedores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o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socios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externos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interactúen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con el gestor documental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mediante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navegador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web.</a:t>
            </a:r>
            <a:endParaRPr dirty="0">
              <a:latin typeface="Montserrat" pitchFamily="2" charset="0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6702437" y="1268724"/>
            <a:ext cx="49244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0F2744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Usuarios</a:t>
            </a:r>
            <a:r>
              <a:rPr lang="en-US" sz="975" b="0" i="0" u="none" strike="noStrike" cap="none" dirty="0">
                <a:solidFill>
                  <a:srgbClr val="0F2744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975" b="0" i="0" u="none" strike="noStrike" cap="none" dirty="0" err="1">
                <a:solidFill>
                  <a:srgbClr val="0F2744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Ilimitados</a:t>
            </a:r>
            <a:r>
              <a:rPr lang="en-US" sz="975" b="0" i="0" u="none" strike="noStrike" cap="none" dirty="0">
                <a:solidFill>
                  <a:srgbClr val="0F2744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:</a:t>
            </a:r>
            <a:endParaRPr dirty="0">
              <a:latin typeface="Montserrat" pitchFamily="2" charset="0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6708893" y="1557379"/>
            <a:ext cx="5041574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Licenciamiento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por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conector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(no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por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usuario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),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reduciendo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drásticamente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el TCO.</a:t>
            </a:r>
            <a:endParaRPr dirty="0">
              <a:latin typeface="Montserrat" pitchFamily="2" charset="0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6708893" y="2184073"/>
            <a:ext cx="49244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2744"/>
                </a:solidFill>
                <a:latin typeface="Montserrat" pitchFamily="2" charset="0"/>
                <a:ea typeface="Inter SemiBold"/>
                <a:cs typeface="Inter SemiBold"/>
                <a:sym typeface="Inter SemiBold"/>
              </a:rPr>
              <a:t>Seguridad y Búsquedas Controladas:</a:t>
            </a:r>
            <a:endParaRPr>
              <a:latin typeface="Montserrat" pitchFamily="2" charset="0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6708893" y="2420264"/>
            <a:ext cx="492442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El administrador define exactamente qué campos y vistas puede consultar o subir cada usuario externo.</a:t>
            </a:r>
            <a:endParaRPr>
              <a:latin typeface="Montserrat" pitchFamily="2" charset="0"/>
            </a:endParaRPr>
          </a:p>
        </p:txBody>
      </p:sp>
      <p:pic>
        <p:nvPicPr>
          <p:cNvPr id="269" name="Google Shape;26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2394" y="1329412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0525" y="225635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02668AD-A45D-5C22-C7F4-640AEF31AC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547" y="3135749"/>
            <a:ext cx="10569171" cy="2767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82041"/>
            <a:ext cx="5334000" cy="70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86691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571500" y="1386691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Extracción Inteligente sin Plantillas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571500" y="1748641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Motor de IA para la captura automatizada de facturas, pedidos y albaranes que aprende del feedback del usuario.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14375" y="2453491"/>
            <a:ext cx="2047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2744"/>
                </a:solidFill>
                <a:latin typeface="Inter"/>
                <a:ea typeface="Inter"/>
                <a:cs typeface="Inter"/>
                <a:sym typeface="Inter"/>
              </a:rPr>
              <a:t>Paquetes de Páginas Disponibles: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14375" y="2653516"/>
            <a:ext cx="50482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100, 1.000, 10.000 y 100.000 páginas.</a:t>
            </a:r>
            <a:endParaRPr/>
          </a:p>
        </p:txBody>
      </p:sp>
      <p:pic>
        <p:nvPicPr>
          <p:cNvPr id="282" name="Google Shape;28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96216"/>
            <a:ext cx="5314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22977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99177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1104900" y="3210728"/>
            <a:ext cx="407050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On-Premise (Acumulable)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1104900" y="3420278"/>
            <a:ext cx="442422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contador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consume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según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pasa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hasta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agotarse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87" name="Google Shape;287;p21"/>
          <p:cNvSpPr txBox="1"/>
          <p:nvPr/>
        </p:nvSpPr>
        <p:spPr>
          <a:xfrm>
            <a:off x="1104900" y="3972728"/>
            <a:ext cx="488061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Subscription &amp; Online (Rollover </a:t>
            </a:r>
            <a:r>
              <a:rPr lang="en-US" sz="1050" b="1" i="0" u="none" strike="noStrike" cap="none" dirty="0" err="1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Mensual</a:t>
            </a:r>
            <a:r>
              <a:rPr lang="en-US" sz="1050" b="1" i="0" u="none" strike="noStrike" cap="none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endParaRPr dirty="0"/>
          </a:p>
        </p:txBody>
      </p:sp>
      <p:sp>
        <p:nvSpPr>
          <p:cNvPr id="288" name="Google Shape;288;p21"/>
          <p:cNvSpPr txBox="1"/>
          <p:nvPr/>
        </p:nvSpPr>
        <p:spPr>
          <a:xfrm>
            <a:off x="1104900" y="4182278"/>
            <a:ext cx="4648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Páginas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usadas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suman al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mes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de 1.000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usas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900 -&gt;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tienes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1.100).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Excesos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tarifican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página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2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IA: Therefore™ Smart Capture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BB1AC8-3706-C279-3C3D-4FCEAA1F84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0788" y="251609"/>
            <a:ext cx="929711" cy="85915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8327CC2-696E-52FE-FBE5-81BD55A4655D}"/>
              </a:ext>
            </a:extLst>
          </p:cNvPr>
          <p:cNvSpPr txBox="1"/>
          <p:nvPr/>
        </p:nvSpPr>
        <p:spPr>
          <a:xfrm>
            <a:off x="1040450" y="4649130"/>
            <a:ext cx="60974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Subscription &amp; Online (</a:t>
            </a:r>
            <a:r>
              <a:rPr lang="en-US" sz="1050" b="1" dirty="0" err="1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Compromiso</a:t>
            </a:r>
            <a:r>
              <a:rPr lang="en-US" sz="1050" b="1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annual </a:t>
            </a:r>
            <a:r>
              <a:rPr lang="en-US" sz="1050" b="1" dirty="0" err="1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050" b="1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1" dirty="0" err="1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descuento</a:t>
            </a:r>
            <a:r>
              <a:rPr lang="en-US" sz="1050" b="1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1" dirty="0" err="1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contratado</a:t>
            </a:r>
            <a:r>
              <a:rPr lang="en-US" sz="1050" b="1" i="0" u="none" strike="noStrike" cap="none" dirty="0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endParaRPr lang="en-US" sz="1400" dirty="0"/>
          </a:p>
        </p:txBody>
      </p:sp>
      <p:sp>
        <p:nvSpPr>
          <p:cNvPr id="5" name="Google Shape;288;p21">
            <a:extLst>
              <a:ext uri="{FF2B5EF4-FFF2-40B4-BE49-F238E27FC236}">
                <a16:creationId xmlns:a16="http://schemas.microsoft.com/office/drawing/2014/main" id="{A0A30968-E556-1A60-4D08-3BA15221362A}"/>
              </a:ext>
            </a:extLst>
          </p:cNvPr>
          <p:cNvSpPr txBox="1"/>
          <p:nvPr/>
        </p:nvSpPr>
        <p:spPr>
          <a:xfrm>
            <a:off x="1114424" y="4932133"/>
            <a:ext cx="7610831" cy="94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Volumen total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váido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.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no se </a:t>
            </a:r>
            <a:r>
              <a:rPr lang="en-US" sz="9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llega</a:t>
            </a: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el </a:t>
            </a:r>
            <a:r>
              <a:rPr lang="en-US" sz="9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exceso</a:t>
            </a: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volumen</a:t>
            </a: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pasa</a:t>
            </a: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9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año</a:t>
            </a: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r>
              <a:rPr lang="en-US" sz="9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uno se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pasa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, a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partir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momento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pasa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tarifica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exceso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los meses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falten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finalización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contrato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1;p16" descr="image.png">
            <a:extLst>
              <a:ext uri="{FF2B5EF4-FFF2-40B4-BE49-F238E27FC236}">
                <a16:creationId xmlns:a16="http://schemas.microsoft.com/office/drawing/2014/main" id="{027AA0C4-7FE0-7E13-937C-45C7B646E7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5297" y="897308"/>
            <a:ext cx="10912980" cy="49477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D56AC9-D4FD-A80F-E452-4651D2633C87}"/>
              </a:ext>
            </a:extLst>
          </p:cNvPr>
          <p:cNvSpPr txBox="1"/>
          <p:nvPr/>
        </p:nvSpPr>
        <p:spPr>
          <a:xfrm>
            <a:off x="1391362" y="1012954"/>
            <a:ext cx="914613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En el caso de </a:t>
            </a:r>
            <a:r>
              <a:rPr lang="es-ES" sz="1400" b="1" dirty="0">
                <a:solidFill>
                  <a:srgbClr val="C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contratación mensual</a:t>
            </a:r>
            <a:r>
              <a:rPr lang="es-ES" sz="1400" dirty="0">
                <a:solidFill>
                  <a:srgbClr val="C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de imágenes: 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Smart Capture: Gestión de imágenes y excedentes</a:t>
            </a:r>
            <a:endParaRPr lang="es-ES" sz="14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El servicio de </a:t>
            </a: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Smart Capture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incluye una cuota mensual   de imágenes procesadas por IA. Su funcionamiento se rige por las siguientes condiciones: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400" b="1" dirty="0"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Acumulación de saldo:</a:t>
            </a:r>
            <a:r>
              <a:rPr lang="es-ES" sz="1400" dirty="0"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 Si no consumes el total de imágenes contratadas en un mes, estas no se pierden; se acumulan automáticamente para ser utilizadas el mes siguiente.</a:t>
            </a:r>
            <a:endParaRPr lang="es-ES" sz="14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400" b="1" dirty="0"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Gestión de excedentes:</a:t>
            </a:r>
            <a:r>
              <a:rPr lang="es-ES" sz="1400" dirty="0"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 En caso de superar la cuota mensual contratada, las imágenes adicionales se facturarán de forma individual.</a:t>
            </a:r>
            <a:endParaRPr lang="es-ES" sz="14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Tarifa vigente: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A fecha </a:t>
            </a:r>
            <a:r>
              <a:rPr lang="es-ES" sz="1400" dirty="0">
                <a:solidFill>
                  <a:srgbClr val="0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de </a:t>
            </a:r>
            <a:r>
              <a:rPr lang="es-ES" sz="1400" b="1" dirty="0">
                <a:solidFill>
                  <a:srgbClr val="C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XXXXXX </a:t>
            </a:r>
            <a:r>
              <a:rPr lang="es-ES" sz="1400" b="1" dirty="0">
                <a:solidFill>
                  <a:srgbClr val="0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 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el precio por cada imagen en exceso es de </a:t>
            </a: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0,50 €/imagen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.  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En el caso de </a:t>
            </a:r>
            <a:r>
              <a:rPr lang="es-ES" sz="1400" b="1" dirty="0">
                <a:solidFill>
                  <a:srgbClr val="C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contratación anual</a:t>
            </a:r>
            <a:r>
              <a:rPr lang="es-ES" sz="1400" dirty="0">
                <a:solidFill>
                  <a:srgbClr val="C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de imágenes: (precio especial negociado con Therefore) 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Smart Capture: Gestión de imágenes y excedentes</a:t>
            </a:r>
            <a:endParaRPr lang="es-ES" sz="1400" dirty="0">
              <a:effectLst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El servicio de </a:t>
            </a: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Smart Capture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incluye una cuota mensual de un volumen de imágenes a procesar en un año. Si ese volumen de imágenes anual se agota a lo largo del año, a partir de ese momento, mensualmente se facturarán las imágenes de exceso que se realicen cada mes a un precio de exceso de   </a:t>
            </a:r>
            <a:r>
              <a:rPr lang="es-ES" sz="1400" b="1" dirty="0">
                <a:solidFill>
                  <a:srgbClr val="C00000"/>
                </a:solidFill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0,50</a:t>
            </a:r>
            <a:r>
              <a:rPr lang="es-ES" sz="1400" b="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 €/imagen</a:t>
            </a: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. </a:t>
            </a:r>
          </a:p>
          <a:p>
            <a:pPr>
              <a:buNone/>
            </a:pPr>
            <a:r>
              <a:rPr lang="es-ES" sz="1400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 por el contrario, al final del año no se alcanza el volumen contratado, el exceso se acumulará al periodo del año siguiente donde volverá a cargarse el volumen contratado inicialmente. </a:t>
            </a:r>
            <a:endParaRPr lang="es-E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7" name="Google Shape;195;p17">
            <a:extLst>
              <a:ext uri="{FF2B5EF4-FFF2-40B4-BE49-F238E27FC236}">
                <a16:creationId xmlns:a16="http://schemas.microsoft.com/office/drawing/2014/main" id="{636923F5-A2FC-9E3E-81E6-E8072C5689A8}"/>
              </a:ext>
            </a:extLst>
          </p:cNvPr>
          <p:cNvSpPr txBox="1"/>
          <p:nvPr/>
        </p:nvSpPr>
        <p:spPr>
          <a:xfrm>
            <a:off x="417676" y="250863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A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añadir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en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todas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las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ofertas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de SC :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Elegir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</a:t>
            </a:r>
            <a:r>
              <a:rPr lang="en-US" sz="2550" b="1" dirty="0" err="1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opción</a:t>
            </a:r>
            <a:r>
              <a:rPr lang="en-US" sz="2550" b="1" dirty="0">
                <a:solidFill>
                  <a:srgbClr val="0F2744"/>
                </a:solidFill>
                <a:latin typeface="Montserrat" pitchFamily="2" charset="0"/>
                <a:cs typeface="Plus Jakarta Sans"/>
                <a:sym typeface="Plus Jakarta Sans"/>
              </a:rPr>
              <a:t> </a:t>
            </a:r>
            <a:endParaRPr sz="2550" b="1" dirty="0">
              <a:solidFill>
                <a:srgbClr val="0F2744"/>
              </a:solidFill>
              <a:latin typeface="Montserrat" pitchFamily="2" charset="0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74436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067" y="2428875"/>
            <a:ext cx="53340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28875"/>
            <a:ext cx="53340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657600"/>
            <a:ext cx="47434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1775" y="3657600"/>
            <a:ext cx="47434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/>
          <p:nvPr/>
        </p:nvSpPr>
        <p:spPr>
          <a:xfrm>
            <a:off x="1190625" y="2730542"/>
            <a:ext cx="46405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Document Intelligence (IA)</a:t>
            </a:r>
            <a:endParaRPr>
              <a:latin typeface="Montserrat" pitchFamily="2" charset="0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866775" y="3143250"/>
            <a:ext cx="4743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Clasificación y enrutamiento inteligente basado en aprendizaje automático y Azure AI Document Intelligence:</a:t>
            </a:r>
            <a:endParaRPr>
              <a:latin typeface="Montserrat" pitchFamily="2" charset="0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866775" y="4410075"/>
            <a:ext cx="47434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Consumo anual en On-Premise y mensual en modelos Subscription / Online.</a:t>
            </a:r>
            <a:endParaRPr>
              <a:latin typeface="Montserrat" pitchFamily="2" charset="0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6934200" y="2730542"/>
            <a:ext cx="461057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Conector Microsoft Copilot</a:t>
            </a:r>
            <a:endParaRPr>
              <a:latin typeface="Montserrat" pitchFamily="2" charset="0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6581775" y="3143250"/>
            <a:ext cx="4743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Integración de la base de conocimiento documental de Therefore™ en el ecosistema Microsoft 365 Copilot:</a:t>
            </a:r>
            <a:endParaRPr>
              <a:latin typeface="Montserrat" pitchFamily="2" charset="0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6581775" y="4410075"/>
            <a:ext cx="47434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Montserrat" pitchFamily="2" charset="0"/>
                <a:ea typeface="Inter"/>
                <a:cs typeface="Inter"/>
                <a:sym typeface="Inter"/>
              </a:rPr>
              <a:t>Permite consultas en lenguaje natural a través del agente de Therefore en Copilot.</a:t>
            </a:r>
            <a:endParaRPr>
              <a:latin typeface="Montserrat" pitchFamily="2" charset="0"/>
            </a:endParaRPr>
          </a:p>
        </p:txBody>
      </p:sp>
      <p:pic>
        <p:nvPicPr>
          <p:cNvPr id="305" name="Google Shape;3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7527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1009650" y="3781425"/>
            <a:ext cx="44577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Requisitos: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Conector Document Intelligence + Bolsa de imágenes.</a:t>
            </a:r>
            <a:endParaRPr>
              <a:latin typeface="Montserrat" pitchFamily="2" charset="0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1009650" y="4005262"/>
            <a:ext cx="44577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Paquetes: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100, 1.000, 10.000 y 100.000 imágenes.</a:t>
            </a:r>
            <a:endParaRPr>
              <a:latin typeface="Montserrat" pitchFamily="2" charset="0"/>
            </a:endParaRPr>
          </a:p>
        </p:txBody>
      </p:sp>
      <p:pic>
        <p:nvPicPr>
          <p:cNvPr id="308" name="Google Shape;30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752725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6724650" y="3781425"/>
            <a:ext cx="44577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Microsoft Graph: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Indexación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segura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de 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contenido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itchFamily="2" charset="0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6724650" y="4005262"/>
            <a:ext cx="44577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Seguridad Estricta:</a:t>
            </a:r>
            <a:r>
              <a:rPr lang="en-US" sz="975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Respeta los permisos de usuario de Therefore.</a:t>
            </a:r>
            <a:endParaRPr>
              <a:latin typeface="Montserrat" pitchFamily="2" charset="0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Clasificación IA y Copilot</a:t>
            </a:r>
            <a:endParaRPr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72B7317-12A8-70A7-2B68-19D7F24FA0B4}"/>
              </a:ext>
            </a:extLst>
          </p:cNvPr>
          <p:cNvSpPr/>
          <p:nvPr/>
        </p:nvSpPr>
        <p:spPr>
          <a:xfrm>
            <a:off x="10552383" y="283142"/>
            <a:ext cx="1125979" cy="1192364"/>
          </a:xfrm>
          <a:custGeom>
            <a:avLst/>
            <a:gdLst/>
            <a:ahLst/>
            <a:cxnLst/>
            <a:rect l="l" t="t" r="r" b="b"/>
            <a:pathLst>
              <a:path w="5374961" h="5374961">
                <a:moveTo>
                  <a:pt x="0" y="0"/>
                </a:moveTo>
                <a:lnTo>
                  <a:pt x="5374961" y="0"/>
                </a:lnTo>
                <a:lnTo>
                  <a:pt x="5374961" y="5374961"/>
                </a:lnTo>
                <a:lnTo>
                  <a:pt x="0" y="53749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 txBox="1"/>
          <p:nvPr/>
        </p:nvSpPr>
        <p:spPr>
          <a:xfrm>
            <a:off x="1081933" y="1428216"/>
            <a:ext cx="812101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Definir Modelo de Despliegue</a:t>
            </a:r>
            <a:endParaRPr>
              <a:latin typeface="Montserrat" pitchFamily="2" charset="0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1081933" y="1675866"/>
            <a:ext cx="77343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¿Prefiere compra perpetua (On-Premise), pago por uso local (Subscription) o SaaS gestionado (Therefore Online en Azure)?</a:t>
            </a:r>
            <a:endParaRPr>
              <a:latin typeface="Montserrat" pitchFamily="2" charset="0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1110508" y="2333091"/>
            <a:ext cx="7940992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Configurar Licencia de Servidor y Usuarios</a:t>
            </a:r>
            <a:endParaRPr>
              <a:latin typeface="Montserrat" pitchFamily="2" charset="0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1110508" y="2580741"/>
            <a:ext cx="75628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Añadir Server License (solo On-Prem/Sub). Definir usuarios Nominales, Concurrentes (mínimo 2 en Online) y Solo Lectura.</a:t>
            </a:r>
            <a:endParaRPr>
              <a:latin typeface="Montserrat" pitchFamily="2" charset="0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1110508" y="3237966"/>
            <a:ext cx="8491061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Incluir Conectores Clave</a:t>
            </a:r>
            <a:endParaRPr>
              <a:latin typeface="Montserrat" pitchFamily="2" charset="0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1110508" y="3485616"/>
            <a:ext cx="80867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Incluir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Content Connector</a:t>
            </a: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por defecto. Añadir Universal Connector, conectores ERP (SAP/Dynamics) o Portal Web según el caso.</a:t>
            </a:r>
            <a:endParaRPr>
              <a:latin typeface="Montserrat" pitchFamily="2" charset="0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1129558" y="4142841"/>
            <a:ext cx="848106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2744"/>
                </a:solidFill>
                <a:latin typeface="Montserrat" pitchFamily="2" charset="0"/>
                <a:ea typeface="Plus Jakarta Sans"/>
                <a:cs typeface="Plus Jakarta Sans"/>
                <a:sym typeface="Plus Jakarta Sans"/>
              </a:rPr>
              <a:t>Dimensionar Inteligencia Artificial y Almacenamiento</a:t>
            </a:r>
            <a:endParaRPr>
              <a:latin typeface="Montserrat" pitchFamily="2" charset="0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1129558" y="4390491"/>
            <a:ext cx="80772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Calcular volumen mensual/anual para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Smart Capture</a:t>
            </a:r>
            <a:r>
              <a:rPr lang="en-US" sz="1050" b="0" i="0" u="none" strike="noStrike" cap="none">
                <a:solidFill>
                  <a:srgbClr val="475569"/>
                </a:solidFill>
                <a:latin typeface="Montserrat" pitchFamily="2" charset="0"/>
                <a:ea typeface="Inter"/>
                <a:cs typeface="Inter"/>
                <a:sym typeface="Inter"/>
              </a:rPr>
              <a:t> o Document Intelligence. En Online, verificar si 10GB/usuario son suficientes.</a:t>
            </a:r>
            <a:endParaRPr>
              <a:latin typeface="Montserrat" pitchFamily="2" charset="0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27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Checklist de Cotización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pter slide section">
  <a:themeElements>
    <a:clrScheme name="Canon 3 repeated">
      <a:dk1>
        <a:sysClr val="windowText" lastClr="000000"/>
      </a:dk1>
      <a:lt1>
        <a:sysClr val="window" lastClr="FFFFFF"/>
      </a:lt1>
      <a:dk2>
        <a:srgbClr val="4B4F54"/>
      </a:dk2>
      <a:lt2>
        <a:srgbClr val="D0D3D4"/>
      </a:lt2>
      <a:accent1>
        <a:srgbClr val="CC0000"/>
      </a:accent1>
      <a:accent2>
        <a:srgbClr val="4B4F54"/>
      </a:accent2>
      <a:accent3>
        <a:srgbClr val="D0D3D4"/>
      </a:accent3>
      <a:accent4>
        <a:srgbClr val="CC0000"/>
      </a:accent4>
      <a:accent5>
        <a:srgbClr val="4B4F54"/>
      </a:accent5>
      <a:accent6>
        <a:srgbClr val="D0D3D4"/>
      </a:accent6>
      <a:hlink>
        <a:srgbClr val="CC0000"/>
      </a:hlink>
      <a:folHlink>
        <a:srgbClr val="4B4F54"/>
      </a:folHlink>
    </a:clrScheme>
    <a:fontScheme name="Canon-Century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EE582594AC2F4CA9F131877BC10BDE" ma:contentTypeVersion="28" ma:contentTypeDescription="Create a new document." ma:contentTypeScope="" ma:versionID="69100ae1efb52c2ba32c4d0ab240c292">
  <xsd:schema xmlns:xsd="http://www.w3.org/2001/XMLSchema" xmlns:xs="http://www.w3.org/2001/XMLSchema" xmlns:p="http://schemas.microsoft.com/office/2006/metadata/properties" xmlns:ns2="c87cd7fe-4833-4f68-a630-427dd05a7de4" xmlns:ns3="53efb845-c1b4-4399-aa0c-e51f3fe9349c" targetNamespace="http://schemas.microsoft.com/office/2006/metadata/properties" ma:root="true" ma:fieldsID="92f8b1a6a97626b98065c1182d2de563" ns2:_="" ns3:_="">
    <xsd:import namespace="c87cd7fe-4833-4f68-a630-427dd05a7de4"/>
    <xsd:import namespace="53efb845-c1b4-4399-aa0c-e51f3fe934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cd7fe-4833-4f68-a630-427dd05a7d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a13ff05-a4bb-4ab2-9118-b43ead51640c}" ma:internalName="TaxCatchAll" ma:showField="CatchAllData" ma:web="c87cd7fe-4833-4f68-a630-427dd05a7d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fb845-c1b4-4399-aa0c-e51f3fe934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b1c8b08-49f9-4132-9cfe-693e3dd41c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87cd7fe-4833-4f68-a630-427dd05a7de4" xsi:nil="true"/>
    <lcf76f155ced4ddcb4097134ff3c332f xmlns="53efb845-c1b4-4399-aa0c-e51f3fe934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AB0FB45-14A0-4E9F-A5E9-5D4A2D3A45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AEDC91-74C0-4D13-BC08-EDB00D31335C}"/>
</file>

<file path=customXml/itemProps3.xml><?xml version="1.0" encoding="utf-8"?>
<ds:datastoreItem xmlns:ds="http://schemas.openxmlformats.org/officeDocument/2006/customXml" ds:itemID="{D0CB30A6-33A8-464F-BCEA-D46346D5605C}">
  <ds:schemaRefs>
    <ds:schemaRef ds:uri="http://schemas.microsoft.com/office/2006/metadata/properties"/>
    <ds:schemaRef ds:uri="http://schemas.microsoft.com/office/infopath/2007/PartnerControls"/>
    <ds:schemaRef ds:uri="c87cd7fe-4833-4f68-a630-427dd05a7de4"/>
    <ds:schemaRef ds:uri="53efb845-c1b4-4399-aa0c-e51f3fe934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1929</Words>
  <Application>Microsoft Office PowerPoint</Application>
  <PresentationFormat>Panorámica</PresentationFormat>
  <Paragraphs>182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7" baseType="lpstr">
      <vt:lpstr>Plus Jakarta Sans ExtraBold</vt:lpstr>
      <vt:lpstr>Times New Roman</vt:lpstr>
      <vt:lpstr>Inter</vt:lpstr>
      <vt:lpstr>Calibri</vt:lpstr>
      <vt:lpstr>Symbol</vt:lpstr>
      <vt:lpstr>Century Gothic</vt:lpstr>
      <vt:lpstr>Plus Jakarta Sans</vt:lpstr>
      <vt:lpstr>Arial</vt:lpstr>
      <vt:lpstr>Montserrat</vt:lpstr>
      <vt:lpstr>Montserrat Medium</vt:lpstr>
      <vt:lpstr>Courier New</vt:lpstr>
      <vt:lpstr>Aptos</vt:lpstr>
      <vt:lpstr>Chapter slide section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Marquez Martinez-Feduchi</dc:creator>
  <cp:lastModifiedBy>Manuel Marquez Martinez-Feduchi</cp:lastModifiedBy>
  <cp:revision>1</cp:revision>
  <dcterms:modified xsi:type="dcterms:W3CDTF">2026-10-21T06:23:48Z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dc6714-9f23-4030-b547-8c94b19e0b7a_Enabled">
    <vt:lpwstr>true</vt:lpwstr>
  </property>
  <property fmtid="{D5CDD505-2E9C-101B-9397-08002B2CF9AE}" pid="3" name="MSIP_Label_f5dc6714-9f23-4030-b547-8c94b19e0b7a_SetDate">
    <vt:lpwstr>2026-08-28T07:42:40Z</vt:lpwstr>
  </property>
  <property fmtid="{D5CDD505-2E9C-101B-9397-08002B2CF9AE}" pid="4" name="MSIP_Label_f5dc6714-9f23-4030-b547-8c94b19e0b7a_Method">
    <vt:lpwstr>Standard</vt:lpwstr>
  </property>
  <property fmtid="{D5CDD505-2E9C-101B-9397-08002B2CF9AE}" pid="5" name="MSIP_Label_f5dc6714-9f23-4030-b547-8c94b19e0b7a_Name">
    <vt:lpwstr>Internal Information (R3)</vt:lpwstr>
  </property>
  <property fmtid="{D5CDD505-2E9C-101B-9397-08002B2CF9AE}" pid="6" name="MSIP_Label_f5dc6714-9f23-4030-b547-8c94b19e0b7a_SiteId">
    <vt:lpwstr>acbd4e6b-e845-4677-853c-a8d24faf3655</vt:lpwstr>
  </property>
  <property fmtid="{D5CDD505-2E9C-101B-9397-08002B2CF9AE}" pid="7" name="MSIP_Label_f5dc6714-9f23-4030-b547-8c94b19e0b7a_ActionId">
    <vt:lpwstr>4c0ef023-292e-40a2-a75c-5bf6756948fe</vt:lpwstr>
  </property>
  <property fmtid="{D5CDD505-2E9C-101B-9397-08002B2CF9AE}" pid="8" name="MSIP_Label_f5dc6714-9f23-4030-b547-8c94b19e0b7a_ContentBits">
    <vt:lpwstr>0</vt:lpwstr>
  </property>
  <property fmtid="{D5CDD505-2E9C-101B-9397-08002B2CF9AE}" pid="9" name="MSIP_Label_f5dc6714-9f23-4030-b547-8c94b19e0b7a_Tag">
    <vt:lpwstr>10, 3, 0, 1</vt:lpwstr>
  </property>
  <property fmtid="{D5CDD505-2E9C-101B-9397-08002B2CF9AE}" pid="10" name="ContentTypeId">
    <vt:lpwstr>0x010100C5EE582594AC2F4CA9F131877BC10BDE</vt:lpwstr>
  </property>
  <property fmtid="{D5CDD505-2E9C-101B-9397-08002B2CF9AE}" pid="11" name="MediaServiceImageTags">
    <vt:lpwstr/>
  </property>
</Properties>
</file>